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6" r:id="rId3"/>
    <p:sldId id="267" r:id="rId4"/>
    <p:sldId id="258" r:id="rId5"/>
    <p:sldId id="269" r:id="rId6"/>
    <p:sldId id="268" r:id="rId7"/>
    <p:sldId id="275" r:id="rId8"/>
    <p:sldId id="274" r:id="rId9"/>
    <p:sldId id="264" r:id="rId10"/>
    <p:sldId id="270" r:id="rId11"/>
    <p:sldId id="276" r:id="rId12"/>
    <p:sldId id="273" r:id="rId13"/>
    <p:sldId id="277" r:id="rId14"/>
    <p:sldId id="278" r:id="rId15"/>
    <p:sldId id="280" r:id="rId16"/>
    <p:sldId id="27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D6DF5C-8162-4233-94CA-946A22CF96B5}" v="98" dt="2026-06-19T12:13:44.026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112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27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B4BC0-3775-948B-5ABE-4E8D357E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10B25-A472-025B-D3BE-1238B720A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0079E-5970-4B17-33C0-80D6D6785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AD27C-85B6-5C35-905B-C8FD9100C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16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A431-94EB-8542-08B0-6F2FADD2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9643B-5F55-9DFE-14FE-E57FEACA9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5841B-5C50-CD04-5C6F-B07DB10FD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49F2D-156E-5572-7399-F84DA42EF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8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0854E-36A0-D4D3-74B5-24A247415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6DE06-F4AE-D9F6-A28C-1D6E88BD5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4364F-F162-A3E1-5309-E157499E2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1B87C-9AD7-971C-46FF-B11A43706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0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0846C-3C3B-9CDD-CAD5-FB55144F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9DC5A-74D3-0E73-CE27-6A686AA6F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C21D3-9614-7F92-45DD-015DD36AB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4FEE7-40E4-3C46-B207-4BD7CEABA5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74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9F5B-637C-1540-32DC-2E906199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529CD-3208-A94D-F121-2CB6D1564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EFB79-3435-C395-EA98-0DE58FD75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C632D-4805-8994-675D-27471994B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12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projects support different moments in the software lifecycle: starting new AI projects, improving existing repositories, and running controlled AI-assisted work through pull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0000-0000-000000000015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is useful when a company is starting a new AI application and wants the basic architecture to be correct before the project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0000-0000-000000000009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new-project template. It is used when the company already has a repository and wants to make it safer for future AI-assisted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0000-0000-000000000011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17F3-B2B5-7F32-FFB5-4510D883A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E41E2-32A4-BF39-0E97-AD5FB2099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EE7C8-A0FF-8A98-DE04-A85CC0A75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new-project template. It is used when the company already has a repository and wants to make it safer for future AI-assisted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89041-95E3-A368-A027-DC436C7A3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0000-0000-000000000011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19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operational value: teams get a repeatable issue-to-PR workflow with role separation, review loops, audit state, protected paths, and human merge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0000-0000-00000000001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AA0D-4C82-3805-1F45-F48AC780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DC509-0060-FD84-2A6C-8637C5DDC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28766-FBA6-4ECC-9413-93D912079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operational value: teams get a repeatable issue-to-PR workflow with role separation, review loops, audit state, protected paths, and human merge responsibility.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425BB-AD00-A755-C4E1-B1A555BD6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0000-0000-000000000014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57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516B1-D240-B64B-63CB-2CC9264A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27C8F-E726-F043-9DC5-C626195EB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8AFE6-5743-9DEC-7150-DB41E708D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operational value: teams get a repeatable issue-to-PR workflow with role separation, review loops, audit state, protected paths, and human merge responsibility.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1FC43-188B-1291-504C-C5611EF4E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0000-0000-000000000014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69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nthropic.com/research/claude-code-expertis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/claude-code-expertis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0624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66344" y="630936"/>
            <a:ext cx="237744" cy="0"/>
          </a:xfrm>
          <a:prstGeom prst="line">
            <a:avLst/>
          </a:prstGeom>
          <a:noFill/>
          <a:ln w="254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96112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AGENTRAIL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AI coding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67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rails.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9E2F2"/>
                </a:solidFill>
              </a:rPr>
              <a:t>Developer productivity tools for engineering teams adopting AI coding agents.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1664208" cy="822960"/>
          </a:xfrm>
          <a:prstGeom prst="roundRect">
            <a:avLst>
              <a:gd name="adj" fmla="val 8889"/>
            </a:avLst>
          </a:prstGeom>
          <a:solidFill>
            <a:srgbClr val="09182B">
              <a:alpha val="97000"/>
            </a:srgbClr>
          </a:solidFill>
          <a:ln w="13970">
            <a:solidFill>
              <a:srgbClr val="24406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713232" y="512064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1677FF">
              <a:alpha val="75000"/>
            </a:srgbClr>
          </a:solidFill>
          <a:ln w="12700">
            <a:solidFill>
              <a:srgbClr val="167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13232" y="51937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5024" y="5212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Start AI projects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23160" y="4956048"/>
            <a:ext cx="1664208" cy="822960"/>
          </a:xfrm>
          <a:prstGeom prst="roundRect">
            <a:avLst>
              <a:gd name="adj" fmla="val 8889"/>
            </a:avLst>
          </a:prstGeom>
          <a:solidFill>
            <a:srgbClr val="09182B">
              <a:alpha val="97000"/>
            </a:srgbClr>
          </a:solidFill>
          <a:ln w="13970">
            <a:solidFill>
              <a:srgbClr val="24406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2587752" y="512064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39D98A">
              <a:alpha val="75000"/>
            </a:srgbClr>
          </a:solidFill>
          <a:ln w="12700">
            <a:solidFill>
              <a:srgbClr val="39D98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2587752" y="51937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27832" y="5184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Harden repositories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0" y="4956048"/>
            <a:ext cx="1664208" cy="822960"/>
          </a:xfrm>
          <a:prstGeom prst="roundRect">
            <a:avLst>
              <a:gd name="adj" fmla="val 8889"/>
            </a:avLst>
          </a:prstGeom>
          <a:solidFill>
            <a:srgbClr val="09182B">
              <a:alpha val="97000"/>
            </a:srgbClr>
          </a:solidFill>
          <a:ln w="13970">
            <a:solidFill>
              <a:srgbClr val="24406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4279392" y="512064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7C5CFF">
              <a:alpha val="75000"/>
            </a:srgbClr>
          </a:solidFill>
          <a:ln w="12700">
            <a:solidFill>
              <a:srgbClr val="7C5C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4279392" y="51937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5184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Issue-to-PR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24406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3"/>
          <p:cNvSpPr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1"/>
                </a:solidFill>
              </a:rPr>
              <a:t>Brand presentation · AgentRail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3C50DFE-2AFC-A5C7-6050-9F560E99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0" y="195072"/>
            <a:ext cx="6350000" cy="4665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60041-9786-8E09-E74E-7F807554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76384504-5133-C491-0E59-DFA452FD75F6}"/>
              </a:ext>
            </a:extLst>
          </p:cNvPr>
          <p:cNvGrpSpPr/>
          <p:nvPr/>
        </p:nvGrpSpPr>
        <p:grpSpPr>
          <a:xfrm>
            <a:off x="304" y="-3476"/>
            <a:ext cx="12191696" cy="6861475"/>
            <a:chOff x="304" y="-3476"/>
            <a:chExt cx="12191696" cy="6861475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46F55801-FE4B-7791-00E5-C5C48606B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" y="-3476"/>
              <a:ext cx="12191696" cy="6861475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43FE45C-0FAA-1776-5520-C5AB74B5D6A2}"/>
                </a:ext>
              </a:extLst>
            </p:cNvPr>
            <p:cNvSpPr/>
            <p:nvPr/>
          </p:nvSpPr>
          <p:spPr>
            <a:xfrm>
              <a:off x="956416" y="975231"/>
              <a:ext cx="10475207" cy="12003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3600" dirty="0"/>
                <a:t>BUILDING (COMPLEX) </a:t>
              </a:r>
            </a:p>
            <a:p>
              <a:pPr algn="ctr"/>
              <a:r>
                <a:rPr lang="es-ES" sz="3600" dirty="0"/>
                <a:t>SOFTWARE WITH AI AGENTS</a:t>
              </a:r>
              <a:endParaRPr lang="en-DE" sz="3600" dirty="0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003C31C-C5AA-5345-4E5E-0FDD92DE1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25157"/>
            <a:stretch>
              <a:fillRect/>
            </a:stretch>
          </p:blipFill>
          <p:spPr>
            <a:xfrm>
              <a:off x="1568596" y="5672029"/>
              <a:ext cx="9250845" cy="1122075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C95EC46-310A-6568-3A33-983CEB3BE283}"/>
                </a:ext>
              </a:extLst>
            </p:cNvPr>
            <p:cNvSpPr/>
            <p:nvPr/>
          </p:nvSpPr>
          <p:spPr>
            <a:xfrm>
              <a:off x="2876084" y="3699468"/>
              <a:ext cx="523425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3600" b="1" dirty="0">
                  <a:solidFill>
                    <a:srgbClr val="1677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?</a:t>
              </a:r>
              <a:endParaRPr lang="en-US" sz="36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CB057BB-15B7-81B0-3A74-B140D544F977}"/>
                </a:ext>
              </a:extLst>
            </p:cNvPr>
            <p:cNvSpPr/>
            <p:nvPr/>
          </p:nvSpPr>
          <p:spPr>
            <a:xfrm>
              <a:off x="5879991" y="3686355"/>
              <a:ext cx="523425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3600" b="1" dirty="0">
                  <a:solidFill>
                    <a:srgbClr val="1677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?</a:t>
              </a:r>
              <a:endParaRPr lang="en-US" sz="36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6879518-DD07-7804-DCEE-69708799055F}"/>
                </a:ext>
              </a:extLst>
            </p:cNvPr>
            <p:cNvSpPr/>
            <p:nvPr/>
          </p:nvSpPr>
          <p:spPr>
            <a:xfrm>
              <a:off x="8883898" y="3686354"/>
              <a:ext cx="523425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3600" b="1" dirty="0">
                  <a:solidFill>
                    <a:srgbClr val="1677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?</a:t>
              </a:r>
              <a:endParaRPr lang="en-US" sz="3600" dirty="0"/>
            </a:p>
          </p:txBody>
        </p:sp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41782675-6767-4C07-734D-574169648A64}"/>
              </a:ext>
            </a:extLst>
          </p:cNvPr>
          <p:cNvSpPr/>
          <p:nvPr/>
        </p:nvSpPr>
        <p:spPr>
          <a:xfrm>
            <a:off x="420624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C54011-E65E-CF28-3BE3-2792835FE4C4}"/>
              </a:ext>
            </a:extLst>
          </p:cNvPr>
          <p:cNvSpPr/>
          <p:nvPr/>
        </p:nvSpPr>
        <p:spPr>
          <a:xfrm>
            <a:off x="466344" y="630936"/>
            <a:ext cx="237744" cy="0"/>
          </a:xfrm>
          <a:prstGeom prst="line">
            <a:avLst/>
          </a:prstGeom>
          <a:noFill/>
          <a:ln w="254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C1ACF7-5CAC-11D3-A9E4-B64B4E4FA089}"/>
              </a:ext>
            </a:extLst>
          </p:cNvPr>
          <p:cNvSpPr/>
          <p:nvPr/>
        </p:nvSpPr>
        <p:spPr>
          <a:xfrm>
            <a:off x="896112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AGENTRAIL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9001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8915-C697-5BA1-F65E-43B0CA71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5F6A217-A3DF-7E39-A93B-174536D29E63}"/>
              </a:ext>
            </a:extLst>
          </p:cNvPr>
          <p:cNvGrpSpPr/>
          <p:nvPr/>
        </p:nvGrpSpPr>
        <p:grpSpPr>
          <a:xfrm>
            <a:off x="-514029" y="0"/>
            <a:ext cx="12706029" cy="6858000"/>
            <a:chOff x="966082" y="1333614"/>
            <a:chExt cx="9248202" cy="502290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424512-BD2C-B8BA-6B5B-76392ECCC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0223" y="1333614"/>
              <a:ext cx="8874061" cy="502290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4490BC-FE90-B4D7-D9D7-D3F43CAAC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25157"/>
            <a:stretch>
              <a:fillRect/>
            </a:stretch>
          </p:blipFill>
          <p:spPr>
            <a:xfrm>
              <a:off x="2404832" y="5445106"/>
              <a:ext cx="6772030" cy="82140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3C8F35-221C-0B0C-718D-25097AEC0A2C}"/>
                </a:ext>
              </a:extLst>
            </p:cNvPr>
            <p:cNvSpPr/>
            <p:nvPr/>
          </p:nvSpPr>
          <p:spPr>
            <a:xfrm rot="280637">
              <a:off x="966082" y="2095609"/>
              <a:ext cx="8347384" cy="14387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3600" dirty="0"/>
                <a:t>BUILDING (COMPLEX) </a:t>
              </a:r>
            </a:p>
            <a:p>
              <a:pPr algn="ctr"/>
              <a:r>
                <a:rPr lang="es-ES" sz="3600" dirty="0"/>
                <a:t>SOFTWARE WITH AI AGENTS</a:t>
              </a:r>
              <a:endParaRPr lang="en-DE" sz="3600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61263F-715D-1E37-137B-42D2C072B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0707" r="59780" b="29651"/>
            <a:stretch>
              <a:fillRect/>
            </a:stretch>
          </p:blipFill>
          <p:spPr>
            <a:xfrm>
              <a:off x="2404832" y="3537633"/>
              <a:ext cx="2859733" cy="1608049"/>
            </a:xfrm>
            <a:prstGeom prst="rect">
              <a:avLst/>
            </a:prstGeom>
          </p:spPr>
        </p:pic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1E5B72CA-1ED9-5075-FD9B-099D48597E44}"/>
              </a:ext>
            </a:extLst>
          </p:cNvPr>
          <p:cNvSpPr/>
          <p:nvPr/>
        </p:nvSpPr>
        <p:spPr>
          <a:xfrm>
            <a:off x="420624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5C2E91-3D6B-C474-A580-7DEF6B99776A}"/>
              </a:ext>
            </a:extLst>
          </p:cNvPr>
          <p:cNvSpPr/>
          <p:nvPr/>
        </p:nvSpPr>
        <p:spPr>
          <a:xfrm>
            <a:off x="466344" y="630936"/>
            <a:ext cx="237744" cy="0"/>
          </a:xfrm>
          <a:prstGeom prst="line">
            <a:avLst/>
          </a:prstGeom>
          <a:noFill/>
          <a:ln w="254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205827-A592-158E-00F8-D431C4F6A7E2}"/>
              </a:ext>
            </a:extLst>
          </p:cNvPr>
          <p:cNvSpPr/>
          <p:nvPr/>
        </p:nvSpPr>
        <p:spPr>
          <a:xfrm>
            <a:off x="896112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AGENTRAIL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2058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0624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66344" y="630936"/>
            <a:ext cx="237744" cy="0"/>
          </a:xfrm>
          <a:prstGeom prst="line">
            <a:avLst/>
          </a:prstGeom>
          <a:noFill/>
          <a:ln w="254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96112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AGENTRAIL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344" y="7543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Claude Code sessions do?</a:t>
            </a:r>
            <a:endParaRPr lang="en-US" sz="44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BEFC412-EF48-BF93-FD83-722E283CB1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42"/>
          <a:stretch>
            <a:fillRect/>
          </a:stretch>
        </p:blipFill>
        <p:spPr>
          <a:xfrm>
            <a:off x="1331540" y="1491240"/>
            <a:ext cx="9902518" cy="4782405"/>
          </a:xfrm>
          <a:prstGeom prst="rect">
            <a:avLst/>
          </a:prstGeom>
        </p:spPr>
      </p:pic>
      <p:sp>
        <p:nvSpPr>
          <p:cNvPr id="58" name="Text 5">
            <a:extLst>
              <a:ext uri="{FF2B5EF4-FFF2-40B4-BE49-F238E27FC236}">
                <a16:creationId xmlns:a16="http://schemas.microsoft.com/office/drawing/2014/main" id="{74A8A725-E214-5471-1705-0D23EFD4F8A5}"/>
              </a:ext>
            </a:extLst>
          </p:cNvPr>
          <p:cNvSpPr/>
          <p:nvPr/>
        </p:nvSpPr>
        <p:spPr>
          <a:xfrm>
            <a:off x="1070282" y="6370426"/>
            <a:ext cx="11295583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https://www.anthropic.com/research/claude-code-expertise</a:t>
            </a:r>
            <a:r>
              <a:rPr lang="en-US" sz="1600" dirty="0">
                <a:solidFill>
                  <a:schemeClr val="bg1"/>
                </a:solidFill>
              </a:rPr>
              <a:t>				</a:t>
            </a:r>
            <a:r>
              <a:rPr lang="en-DE" sz="1600" dirty="0">
                <a:solidFill>
                  <a:schemeClr val="bg1"/>
                </a:solidFill>
              </a:rPr>
              <a:t>16. Juni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A6EAC8-5A2D-14D0-9DE2-69B37EB5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F9123EF-8929-FA8B-26E3-CA75CFBEA4B4}"/>
              </a:ext>
            </a:extLst>
          </p:cNvPr>
          <p:cNvSpPr/>
          <p:nvPr/>
        </p:nvSpPr>
        <p:spPr>
          <a:xfrm>
            <a:off x="420624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286980-129A-2829-63D4-C76E71AD54C6}"/>
              </a:ext>
            </a:extLst>
          </p:cNvPr>
          <p:cNvSpPr/>
          <p:nvPr/>
        </p:nvSpPr>
        <p:spPr>
          <a:xfrm>
            <a:off x="466344" y="630936"/>
            <a:ext cx="237744" cy="0"/>
          </a:xfrm>
          <a:prstGeom prst="line">
            <a:avLst/>
          </a:prstGeom>
          <a:noFill/>
          <a:ln w="254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8DF7A6-3561-78A0-F6D2-412C2917A3DF}"/>
              </a:ext>
            </a:extLst>
          </p:cNvPr>
          <p:cNvSpPr/>
          <p:nvPr/>
        </p:nvSpPr>
        <p:spPr>
          <a:xfrm>
            <a:off x="896112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AGENTRAIL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718E74-7AC8-EFD0-98A9-92A52D7618BD}"/>
              </a:ext>
            </a:extLst>
          </p:cNvPr>
          <p:cNvSpPr/>
          <p:nvPr/>
        </p:nvSpPr>
        <p:spPr>
          <a:xfrm>
            <a:off x="466344" y="7543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 experts Claude code experts do?</a:t>
            </a:r>
            <a:endParaRPr lang="en-US" sz="440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64FD07D-4ADE-4E28-9EE7-5FCA4D6AB798}"/>
              </a:ext>
            </a:extLst>
          </p:cNvPr>
          <p:cNvSpPr/>
          <p:nvPr/>
        </p:nvSpPr>
        <p:spPr>
          <a:xfrm>
            <a:off x="1070282" y="6370426"/>
            <a:ext cx="11295583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https://www.anthropic.com/research/claude-code-expertise</a:t>
            </a:r>
            <a:r>
              <a:rPr lang="en-US" sz="1600" dirty="0">
                <a:solidFill>
                  <a:schemeClr val="bg1"/>
                </a:solidFill>
              </a:rPr>
              <a:t>				</a:t>
            </a:r>
            <a:r>
              <a:rPr lang="en-DE" sz="1600" dirty="0">
                <a:solidFill>
                  <a:schemeClr val="bg1"/>
                </a:solidFill>
              </a:rPr>
              <a:t>16. Juni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5D2593-C868-AA70-7D99-A7AEAE87AA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27"/>
          <a:stretch>
            <a:fillRect/>
          </a:stretch>
        </p:blipFill>
        <p:spPr>
          <a:xfrm>
            <a:off x="1174496" y="1447386"/>
            <a:ext cx="10189029" cy="48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9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8FDBD-179A-E277-9F34-A8A050A8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1DAF899-14BE-2DE4-1BBD-3DE38ABE2087}"/>
              </a:ext>
            </a:extLst>
          </p:cNvPr>
          <p:cNvGrpSpPr/>
          <p:nvPr/>
        </p:nvGrpSpPr>
        <p:grpSpPr>
          <a:xfrm>
            <a:off x="304" y="11038"/>
            <a:ext cx="12191696" cy="6861475"/>
            <a:chOff x="304" y="-3476"/>
            <a:chExt cx="12191696" cy="6861475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F0015C1-2256-426B-1943-D0471587E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" y="-3476"/>
              <a:ext cx="12191696" cy="6861475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B105019-03D4-532B-57EF-AE88A069E3F6}"/>
                </a:ext>
              </a:extLst>
            </p:cNvPr>
            <p:cNvSpPr/>
            <p:nvPr/>
          </p:nvSpPr>
          <p:spPr>
            <a:xfrm>
              <a:off x="1099312" y="1168265"/>
              <a:ext cx="10475207" cy="12003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3600" dirty="0">
                  <a:solidFill>
                    <a:schemeClr val="accent1">
                      <a:lumMod val="50000"/>
                    </a:schemeClr>
                  </a:solidFill>
                </a:rPr>
                <a:t>BUILDING (COMPLEX) </a:t>
              </a:r>
            </a:p>
            <a:p>
              <a:pPr algn="ctr"/>
              <a:r>
                <a:rPr lang="es-ES" sz="3600" dirty="0">
                  <a:solidFill>
                    <a:schemeClr val="accent1">
                      <a:lumMod val="50000"/>
                    </a:schemeClr>
                  </a:solidFill>
                </a:rPr>
                <a:t>SOFTWARE WITH AI AGENTS</a:t>
              </a:r>
              <a:endParaRPr lang="en-DE" sz="3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B9C9C75-187A-806E-C8AD-78331D2BE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25157"/>
            <a:stretch>
              <a:fillRect/>
            </a:stretch>
          </p:blipFill>
          <p:spPr>
            <a:xfrm>
              <a:off x="1568596" y="5672029"/>
              <a:ext cx="9250845" cy="1122075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89469FD-B47C-E9F1-2885-C03C47E1D973}"/>
                </a:ext>
              </a:extLst>
            </p:cNvPr>
            <p:cNvSpPr/>
            <p:nvPr/>
          </p:nvSpPr>
          <p:spPr>
            <a:xfrm>
              <a:off x="8883898" y="3686354"/>
              <a:ext cx="523425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endParaRPr lang="en-US" sz="36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F63A03-47FD-E387-5C85-5EA450571193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EAE33188-2360-F03F-63F0-C79E22EFFF30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D3A872E-481B-7190-45FD-5FB46997437A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D7026321-A76D-A183-36BF-1AD067AE2485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sp>
        <p:nvSpPr>
          <p:cNvPr id="48" name="Text 46">
            <a:extLst>
              <a:ext uri="{FF2B5EF4-FFF2-40B4-BE49-F238E27FC236}">
                <a16:creationId xmlns:a16="http://schemas.microsoft.com/office/drawing/2014/main" id="{DE5326E6-79DD-FD79-0270-4FA044F1EA0C}"/>
              </a:ext>
            </a:extLst>
          </p:cNvPr>
          <p:cNvSpPr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1"/>
                </a:solidFill>
              </a:rPr>
              <a:t>Start · Harden · Ship</a:t>
            </a:r>
            <a:endParaRPr lang="en-US" sz="95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CDC848-7B81-9999-AE37-33B046C6A446}"/>
              </a:ext>
            </a:extLst>
          </p:cNvPr>
          <p:cNvSpPr/>
          <p:nvPr/>
        </p:nvSpPr>
        <p:spPr>
          <a:xfrm>
            <a:off x="4842040" y="3126070"/>
            <a:ext cx="2665773" cy="135360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3F6ED1"/>
                </a:solidFill>
                <a:latin typeface="Arial"/>
              </a:rPr>
              <a:t>🏗️ Codebase</a:t>
            </a:r>
            <a:endParaRPr lang="es-ES" sz="2000" b="1" dirty="0">
              <a:solidFill>
                <a:srgbClr val="3F6ED1"/>
              </a:solidFill>
              <a:latin typeface="Arial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/>
              </a:rPr>
              <a:t>Make the project easy to understand and check</a:t>
            </a:r>
            <a:endParaRPr lang="es-ES" sz="17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20F48046-6C63-D992-D788-8CCCFBF3E5F6}"/>
              </a:ext>
            </a:extLst>
          </p:cNvPr>
          <p:cNvSpPr/>
          <p:nvPr/>
        </p:nvSpPr>
        <p:spPr>
          <a:xfrm>
            <a:off x="7977119" y="3199005"/>
            <a:ext cx="2665773" cy="128066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E0842F"/>
                </a:solidFill>
                <a:latin typeface="Arial"/>
              </a:rPr>
              <a:t>⚙️ Operations</a:t>
            </a:r>
            <a:endParaRPr lang="es-ES" sz="2000" b="1" dirty="0">
              <a:solidFill>
                <a:srgbClr val="E0842F"/>
              </a:solidFill>
              <a:latin typeface="Arial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/>
              </a:rPr>
              <a:t>Control risk with permissions, CI, and ownership</a:t>
            </a:r>
            <a:endParaRPr sz="17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1937A122-98B7-8019-0CD2-626C26575022}"/>
              </a:ext>
            </a:extLst>
          </p:cNvPr>
          <p:cNvSpPr/>
          <p:nvPr/>
        </p:nvSpPr>
        <p:spPr>
          <a:xfrm>
            <a:off x="1739900" y="3154268"/>
            <a:ext cx="2632834" cy="13536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349669"/>
                </a:solidFill>
                <a:latin typeface="Arial"/>
              </a:rPr>
              <a:t>🤖 Agent Use</a:t>
            </a:r>
            <a:r>
              <a:rPr lang="es-ES" sz="2000" b="1" dirty="0">
                <a:solidFill>
                  <a:srgbClr val="349669"/>
                </a:solidFill>
                <a:latin typeface="Arial"/>
              </a:rPr>
              <a:t> </a:t>
            </a:r>
            <a:r>
              <a:rPr lang="es-ES" sz="2800" b="1" dirty="0">
                <a:solidFill>
                  <a:srgbClr val="349669"/>
                </a:solidFill>
                <a:latin typeface="Arial"/>
              </a:rPr>
              <a:t>👷</a:t>
            </a:r>
            <a:r>
              <a:rPr lang="es-ES" sz="2000" b="1" dirty="0">
                <a:solidFill>
                  <a:srgbClr val="349669"/>
                </a:solidFill>
                <a:latin typeface="Arial"/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/>
              </a:rPr>
              <a:t>Guide the AI with scope, tests, and review</a:t>
            </a:r>
            <a:endParaRPr sz="1700" b="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033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6F73-1E5B-DA80-7AA8-47C7F4241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98BE487-3C08-8566-0A99-25AEED98CAA6}"/>
              </a:ext>
            </a:extLst>
          </p:cNvPr>
          <p:cNvSpPr/>
          <p:nvPr/>
        </p:nvSpPr>
        <p:spPr>
          <a:xfrm>
            <a:off x="420624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771060-E206-B766-3CE3-3F98C5362617}"/>
              </a:ext>
            </a:extLst>
          </p:cNvPr>
          <p:cNvSpPr/>
          <p:nvPr/>
        </p:nvSpPr>
        <p:spPr>
          <a:xfrm>
            <a:off x="466344" y="630936"/>
            <a:ext cx="237744" cy="0"/>
          </a:xfrm>
          <a:prstGeom prst="line">
            <a:avLst/>
          </a:prstGeom>
          <a:noFill/>
          <a:ln w="254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D24BCF-E1F1-BD0A-FF58-EBB422318552}"/>
              </a:ext>
            </a:extLst>
          </p:cNvPr>
          <p:cNvSpPr/>
          <p:nvPr/>
        </p:nvSpPr>
        <p:spPr>
          <a:xfrm>
            <a:off x="896112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AGENTRAIL</a:t>
            </a:r>
            <a:endParaRPr lang="en-US" sz="1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251E19-FB90-673B-AAC2-9651ABDE5781}"/>
              </a:ext>
            </a:extLst>
          </p:cNvPr>
          <p:cNvSpPr txBox="1"/>
          <p:nvPr/>
        </p:nvSpPr>
        <p:spPr>
          <a:xfrm>
            <a:off x="466344" y="780351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400" b="1" dirty="0" err="1">
                <a:solidFill>
                  <a:srgbClr val="186FFF"/>
                </a:solidFill>
                <a:latin typeface="Arial"/>
              </a:rPr>
              <a:t>Pilars</a:t>
            </a:r>
            <a:r>
              <a:rPr sz="3400" b="1" dirty="0">
                <a:solidFill>
                  <a:srgbClr val="186FFF"/>
                </a:solidFill>
                <a:latin typeface="Arial"/>
              </a:rPr>
              <a:t> </a:t>
            </a:r>
            <a:r>
              <a:rPr sz="3400" b="1" dirty="0">
                <a:solidFill>
                  <a:srgbClr val="F5F7FB"/>
                </a:solidFill>
                <a:latin typeface="Arial"/>
              </a:rPr>
              <a:t>software </a:t>
            </a:r>
            <a:r>
              <a:rPr lang="es-ES" sz="3400" b="1" dirty="0" err="1">
                <a:solidFill>
                  <a:srgbClr val="F5F7FB"/>
                </a:solidFill>
                <a:latin typeface="Arial"/>
              </a:rPr>
              <a:t>for</a:t>
            </a:r>
            <a:r>
              <a:rPr lang="es-ES" sz="3400" b="1" dirty="0">
                <a:solidFill>
                  <a:srgbClr val="F5F7FB"/>
                </a:solidFill>
                <a:latin typeface="Arial"/>
              </a:rPr>
              <a:t> AI </a:t>
            </a:r>
            <a:r>
              <a:rPr lang="es-ES" sz="3400" b="1" dirty="0" err="1">
                <a:solidFill>
                  <a:srgbClr val="F5F7FB"/>
                </a:solidFill>
                <a:latin typeface="Arial"/>
              </a:rPr>
              <a:t>assisted</a:t>
            </a:r>
            <a:r>
              <a:rPr lang="es-ES" sz="3400" b="1" dirty="0">
                <a:solidFill>
                  <a:srgbClr val="F5F7FB"/>
                </a:solidFill>
                <a:latin typeface="Arial"/>
              </a:rPr>
              <a:t> SW </a:t>
            </a:r>
            <a:r>
              <a:rPr lang="es-ES" sz="3400" b="1" dirty="0" err="1">
                <a:solidFill>
                  <a:srgbClr val="F5F7FB"/>
                </a:solidFill>
                <a:latin typeface="Arial"/>
              </a:rPr>
              <a:t>development</a:t>
            </a:r>
            <a:endParaRPr sz="3400" b="1" dirty="0">
              <a:solidFill>
                <a:srgbClr val="F5F7FB"/>
              </a:solidFill>
              <a:latin typeface="Arial"/>
            </a:endParaRP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BC75AC4D-285D-1D40-04D7-C99C862DFD87}"/>
              </a:ext>
            </a:extLst>
          </p:cNvPr>
          <p:cNvSpPr/>
          <p:nvPr/>
        </p:nvSpPr>
        <p:spPr>
          <a:xfrm>
            <a:off x="4685741" y="1526791"/>
            <a:ext cx="2812285" cy="1339349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3F6ED1"/>
                </a:solidFill>
                <a:latin typeface="Arial"/>
              </a:rPr>
              <a:t>🏗️ Codebase</a:t>
            </a:r>
            <a:endParaRPr lang="es-ES" sz="1700" b="1" dirty="0">
              <a:solidFill>
                <a:srgbClr val="3F6ED1"/>
              </a:solidFill>
              <a:latin typeface="Arial"/>
            </a:endParaRPr>
          </a:p>
          <a:p>
            <a:pPr algn="ctr"/>
            <a:r>
              <a:rPr lang="en-US" dirty="0">
                <a:solidFill>
                  <a:srgbClr val="5B6370"/>
                </a:solidFill>
                <a:latin typeface="Arial"/>
              </a:rPr>
              <a:t>Make the project easy to understand and check</a:t>
            </a:r>
            <a:endParaRPr lang="es-ES" sz="1700" b="1" dirty="0">
              <a:solidFill>
                <a:srgbClr val="3F6ED1"/>
              </a:solidFill>
              <a:latin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6C0FE5-E366-EB15-EE1C-8EBD1A6EB93A}"/>
              </a:ext>
            </a:extLst>
          </p:cNvPr>
          <p:cNvSpPr txBox="1"/>
          <p:nvPr/>
        </p:nvSpPr>
        <p:spPr>
          <a:xfrm>
            <a:off x="4210959" y="3169411"/>
            <a:ext cx="3533259" cy="302236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⚡ </a:t>
            </a:r>
            <a:r>
              <a:rPr sz="1600" b="1" dirty="0">
                <a:solidFill>
                  <a:schemeClr val="bg1"/>
                </a:solidFill>
              </a:rPr>
              <a:t>Fast checks </a:t>
            </a:r>
            <a:r>
              <a:rPr sz="1600" dirty="0">
                <a:solidFill>
                  <a:schemeClr val="bg1"/>
                </a:solidFill>
              </a:rPr>
              <a:t>that catch mistakes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🗂️ </a:t>
            </a:r>
            <a:r>
              <a:rPr sz="1600" b="1" dirty="0">
                <a:solidFill>
                  <a:schemeClr val="bg1"/>
                </a:solidFill>
              </a:rPr>
              <a:t>Clear project layout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🧱 Small, separate building blocks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✅ </a:t>
            </a:r>
            <a:r>
              <a:rPr sz="1600" b="1" dirty="0">
                <a:solidFill>
                  <a:schemeClr val="bg1"/>
                </a:solidFill>
              </a:rPr>
              <a:t>Tests</a:t>
            </a:r>
            <a:r>
              <a:rPr sz="1600" dirty="0">
                <a:solidFill>
                  <a:schemeClr val="bg1"/>
                </a:solidFill>
              </a:rPr>
              <a:t> that describe expected behavior</a:t>
            </a:r>
            <a:endParaRPr lang="es-ES" sz="16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endParaRPr sz="14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📘 Simple instructions for the project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🔒 Rules enforced by code, not memory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🔍 Easy to debug when something breaks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🏷️ Clear labels and conventions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🧹 Clean, relevant project context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202BFD-237F-977E-FE5F-80D50CA3F226}"/>
              </a:ext>
            </a:extLst>
          </p:cNvPr>
          <p:cNvSpPr txBox="1"/>
          <p:nvPr/>
        </p:nvSpPr>
        <p:spPr>
          <a:xfrm>
            <a:off x="420624" y="3151150"/>
            <a:ext cx="3427477" cy="301210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🎯 </a:t>
            </a:r>
            <a:r>
              <a:rPr sz="1600" b="1" dirty="0">
                <a:solidFill>
                  <a:schemeClr val="bg1"/>
                </a:solidFill>
              </a:rPr>
              <a:t>Clear goal </a:t>
            </a:r>
            <a:r>
              <a:rPr sz="1600" dirty="0">
                <a:solidFill>
                  <a:schemeClr val="bg1"/>
                </a:solidFill>
              </a:rPr>
              <a:t>and success criteria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🧭 </a:t>
            </a:r>
            <a:r>
              <a:rPr sz="1600" b="1" dirty="0">
                <a:solidFill>
                  <a:schemeClr val="bg1"/>
                </a:solidFill>
              </a:rPr>
              <a:t>Plan</a:t>
            </a:r>
            <a:r>
              <a:rPr sz="1600" dirty="0">
                <a:solidFill>
                  <a:schemeClr val="bg1"/>
                </a:solidFill>
              </a:rPr>
              <a:t> before changing anything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✅ Use </a:t>
            </a:r>
            <a:r>
              <a:rPr sz="1600" b="1" dirty="0">
                <a:solidFill>
                  <a:schemeClr val="bg1"/>
                </a:solidFill>
              </a:rPr>
              <a:t>tests</a:t>
            </a:r>
            <a:r>
              <a:rPr sz="1600" dirty="0">
                <a:solidFill>
                  <a:schemeClr val="bg1"/>
                </a:solidFill>
              </a:rPr>
              <a:t> as the agreement</a:t>
            </a:r>
            <a:endParaRPr lang="es-ES" sz="16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endParaRPr lang="es-ES" sz="14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endParaRPr sz="14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🧠 Give only the right context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🍰 Work in small slices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🔎 Review the actual changes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👥 Split planner, builder, reviewer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🧾 Ask for structured answers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📌 Track decisions and progress</a:t>
            </a: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F68FE39F-69DB-FBB4-93D3-DB3A820D12E2}"/>
              </a:ext>
            </a:extLst>
          </p:cNvPr>
          <p:cNvSpPr/>
          <p:nvPr/>
        </p:nvSpPr>
        <p:spPr>
          <a:xfrm>
            <a:off x="8540386" y="1540889"/>
            <a:ext cx="3004585" cy="1311152"/>
          </a:xfrm>
          <a:prstGeom prst="roundRect">
            <a:avLst/>
          </a:prstGeom>
          <a:solidFill>
            <a:srgbClr val="FFF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E0842F"/>
                </a:solidFill>
                <a:latin typeface="Arial"/>
              </a:rPr>
              <a:t>⚙️ Operations</a:t>
            </a:r>
            <a:endParaRPr lang="es-ES" sz="1700" b="1" dirty="0">
              <a:solidFill>
                <a:srgbClr val="E0842F"/>
              </a:solidFill>
              <a:latin typeface="Arial"/>
            </a:endParaRPr>
          </a:p>
          <a:p>
            <a:pPr algn="ctr"/>
            <a:r>
              <a:rPr lang="en-US" dirty="0">
                <a:solidFill>
                  <a:srgbClr val="5B6370"/>
                </a:solidFill>
                <a:latin typeface="Arial"/>
              </a:rPr>
              <a:t>Control risk with permissions, CI, hooks and ownership</a:t>
            </a:r>
            <a:endParaRPr sz="1700" b="1" dirty="0">
              <a:solidFill>
                <a:srgbClr val="E0842F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5DA411-BAD1-F9F0-BEEB-D2814403B34F}"/>
              </a:ext>
            </a:extLst>
          </p:cNvPr>
          <p:cNvSpPr txBox="1"/>
          <p:nvPr/>
        </p:nvSpPr>
        <p:spPr>
          <a:xfrm>
            <a:off x="8115667" y="3091567"/>
            <a:ext cx="3854024" cy="358662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🚦 Choose </a:t>
            </a:r>
            <a:r>
              <a:rPr sz="1600" b="1" dirty="0">
                <a:solidFill>
                  <a:schemeClr val="bg1"/>
                </a:solidFill>
              </a:rPr>
              <a:t>safe tasks </a:t>
            </a:r>
            <a:r>
              <a:rPr sz="1600" dirty="0">
                <a:solidFill>
                  <a:schemeClr val="bg1"/>
                </a:solidFill>
              </a:rPr>
              <a:t>for agents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🛡️ </a:t>
            </a:r>
            <a:r>
              <a:rPr sz="1600" b="1" dirty="0">
                <a:solidFill>
                  <a:schemeClr val="bg1"/>
                </a:solidFill>
              </a:rPr>
              <a:t>Limit</a:t>
            </a:r>
            <a:r>
              <a:rPr sz="1600" dirty="0">
                <a:solidFill>
                  <a:schemeClr val="bg1"/>
                </a:solidFill>
              </a:rPr>
              <a:t> what agents can change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♻️ Use </a:t>
            </a:r>
            <a:r>
              <a:rPr sz="1600" b="1" dirty="0">
                <a:solidFill>
                  <a:schemeClr val="bg1"/>
                </a:solidFill>
              </a:rPr>
              <a:t>repeatable environments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dirty="0">
                <a:solidFill>
                  <a:schemeClr val="bg1"/>
                </a:solidFill>
              </a:rPr>
              <a:t>🔐 </a:t>
            </a:r>
            <a:r>
              <a:rPr sz="1600" b="1" dirty="0">
                <a:solidFill>
                  <a:schemeClr val="bg1"/>
                </a:solidFill>
              </a:rPr>
              <a:t>Protect secrets </a:t>
            </a:r>
            <a:r>
              <a:rPr sz="1600" dirty="0">
                <a:solidFill>
                  <a:schemeClr val="bg1"/>
                </a:solidFill>
              </a:rPr>
              <a:t>and data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600" b="1" dirty="0">
                <a:solidFill>
                  <a:schemeClr val="bg1"/>
                </a:solidFill>
              </a:rPr>
              <a:t>🚧 Block merges unless checks pass</a:t>
            </a:r>
            <a:r>
              <a:rPr lang="es-ES" sz="1600" b="1" dirty="0">
                <a:solidFill>
                  <a:schemeClr val="bg1"/>
                </a:solidFill>
              </a:rPr>
              <a:t> (test, </a:t>
            </a:r>
            <a:r>
              <a:rPr lang="es-ES" sz="1600" b="1" dirty="0" err="1">
                <a:solidFill>
                  <a:schemeClr val="bg1"/>
                </a:solidFill>
              </a:rPr>
              <a:t>lint</a:t>
            </a:r>
            <a:r>
              <a:rPr lang="es-ES" sz="1600" b="1" dirty="0">
                <a:solidFill>
                  <a:schemeClr val="bg1"/>
                </a:solidFill>
              </a:rPr>
              <a:t>, </a:t>
            </a:r>
            <a:r>
              <a:rPr lang="es-ES" sz="1600" b="1" dirty="0" err="1">
                <a:solidFill>
                  <a:schemeClr val="bg1"/>
                </a:solidFill>
              </a:rPr>
              <a:t>format</a:t>
            </a:r>
            <a:r>
              <a:rPr lang="es-ES" sz="1600" b="1" dirty="0">
                <a:solidFill>
                  <a:schemeClr val="bg1"/>
                </a:solidFill>
              </a:rPr>
              <a:t>…)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endParaRPr sz="14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📄 Make pull requests easy to review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👤 Keep humans accountable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🧰 Pick the right tool for the task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💸 Match effort to risk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🔁 Learn from repeated mistakes</a:t>
            </a:r>
          </a:p>
          <a:p>
            <a:pPr>
              <a:spcAft>
                <a:spcPts val="400"/>
              </a:spcAft>
              <a:defRPr sz="1010">
                <a:solidFill>
                  <a:srgbClr val="20252E"/>
                </a:solidFill>
                <a:latin typeface="Arial"/>
              </a:defRPr>
            </a:pPr>
            <a:r>
              <a:rPr sz="1400" dirty="0">
                <a:solidFill>
                  <a:schemeClr val="bg1"/>
                </a:solidFill>
              </a:rPr>
              <a:t>⚖️ Check licenses and source of code</a:t>
            </a:r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0083A051-9C7F-1ECE-8C83-A7779A71EEF1}"/>
              </a:ext>
            </a:extLst>
          </p:cNvPr>
          <p:cNvSpPr/>
          <p:nvPr/>
        </p:nvSpPr>
        <p:spPr>
          <a:xfrm>
            <a:off x="971934" y="1600183"/>
            <a:ext cx="2324855" cy="1339350"/>
          </a:xfrm>
          <a:prstGeom prst="round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349669"/>
                </a:solidFill>
                <a:latin typeface="Arial"/>
              </a:rPr>
              <a:t>🤖 Agent Use</a:t>
            </a:r>
            <a:r>
              <a:rPr lang="es-ES" sz="1700" b="1" dirty="0">
                <a:solidFill>
                  <a:srgbClr val="349669"/>
                </a:solidFill>
                <a:latin typeface="Arial"/>
              </a:rPr>
              <a:t> </a:t>
            </a:r>
            <a:r>
              <a:rPr lang="es-ES" sz="2000" b="1" dirty="0">
                <a:solidFill>
                  <a:srgbClr val="349669"/>
                </a:solidFill>
                <a:latin typeface="Arial"/>
              </a:rPr>
              <a:t>👷</a:t>
            </a:r>
            <a:r>
              <a:rPr lang="es-ES" sz="1700" b="1" dirty="0">
                <a:solidFill>
                  <a:srgbClr val="349669"/>
                </a:solidFill>
                <a:latin typeface="Arial"/>
              </a:rPr>
              <a:t> </a:t>
            </a:r>
          </a:p>
          <a:p>
            <a:pPr algn="ctr"/>
            <a:r>
              <a:rPr lang="en-US" dirty="0">
                <a:solidFill>
                  <a:srgbClr val="5B6370"/>
                </a:solidFill>
                <a:latin typeface="Arial"/>
              </a:rPr>
              <a:t>Guide the AI with scope, tests, and review</a:t>
            </a:r>
            <a:endParaRPr sz="1700" b="1" dirty="0">
              <a:solidFill>
                <a:srgbClr val="34966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052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029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F5F7FB"/>
                </a:solidFill>
                <a:latin typeface="Arial"/>
              </a:rPr>
              <a:t>Three tools for </a:t>
            </a:r>
            <a:r>
              <a:rPr sz="3400" b="1" dirty="0">
                <a:solidFill>
                  <a:srgbClr val="186FFF"/>
                </a:solidFill>
                <a:latin typeface="Arial"/>
              </a:rPr>
              <a:t>three </a:t>
            </a:r>
            <a:r>
              <a:rPr sz="3400" b="1" dirty="0">
                <a:solidFill>
                  <a:srgbClr val="F5F7FB"/>
                </a:solidFill>
                <a:latin typeface="Arial"/>
              </a:rPr>
              <a:t>software moments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1499617"/>
            <a:ext cx="3383280" cy="4489703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FC5930B-D4A3-4CDD-2BF5-F8027851115B}"/>
              </a:ext>
            </a:extLst>
          </p:cNvPr>
          <p:cNvGrpSpPr/>
          <p:nvPr/>
        </p:nvGrpSpPr>
        <p:grpSpPr>
          <a:xfrm>
            <a:off x="768096" y="1744980"/>
            <a:ext cx="475488" cy="475488"/>
            <a:chOff x="758952" y="2313432"/>
            <a:chExt cx="475488" cy="475488"/>
          </a:xfrm>
        </p:grpSpPr>
        <p:sp>
          <p:nvSpPr>
            <p:cNvPr id="31" name="Rounded Rectangle 30"/>
            <p:cNvSpPr/>
            <p:nvPr/>
          </p:nvSpPr>
          <p:spPr>
            <a:xfrm>
              <a:off x="758952" y="2313432"/>
              <a:ext cx="475488" cy="475488"/>
            </a:xfrm>
            <a:prstGeom prst="roundRect">
              <a:avLst/>
            </a:prstGeom>
            <a:solidFill>
              <a:srgbClr val="07224C"/>
            </a:solidFill>
            <a:ln w="12700">
              <a:solidFill>
                <a:srgbClr val="186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8952" y="2372868"/>
              <a:ext cx="475488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>
                  <a:solidFill>
                    <a:srgbClr val="186FFF"/>
                  </a:solidFill>
                  <a:latin typeface="Arial"/>
                </a:defRPr>
              </a:pPr>
              <a:r>
                <a:rPr dirty="0"/>
                <a:t>1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380744" y="17907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B"/>
                </a:solidFill>
                <a:latin typeface="Arial"/>
              </a:defRPr>
            </a:pPr>
            <a:r>
              <a:rPr dirty="0"/>
              <a:t>AI Project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938" y="2299717"/>
            <a:ext cx="2834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7D5"/>
                </a:solidFill>
                <a:latin typeface="Arial"/>
              </a:defRPr>
            </a:pPr>
            <a:r>
              <a:rPr dirty="0"/>
              <a:t>Start new AI projects with a solid structure.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16552" y="1499617"/>
            <a:ext cx="3383280" cy="4433061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E3CEF1B-815C-D3B9-AA61-02866C2BA7C3}"/>
              </a:ext>
            </a:extLst>
          </p:cNvPr>
          <p:cNvGrpSpPr/>
          <p:nvPr/>
        </p:nvGrpSpPr>
        <p:grpSpPr>
          <a:xfrm>
            <a:off x="4640046" y="1744980"/>
            <a:ext cx="475488" cy="475488"/>
            <a:chOff x="4581144" y="2313432"/>
            <a:chExt cx="475488" cy="475488"/>
          </a:xfrm>
        </p:grpSpPr>
        <p:sp>
          <p:nvSpPr>
            <p:cNvPr id="39" name="Rounded Rectangle 38"/>
            <p:cNvSpPr/>
            <p:nvPr/>
          </p:nvSpPr>
          <p:spPr>
            <a:xfrm>
              <a:off x="4581144" y="2313432"/>
              <a:ext cx="475488" cy="475488"/>
            </a:xfrm>
            <a:prstGeom prst="roundRect">
              <a:avLst/>
            </a:prstGeom>
            <a:solidFill>
              <a:srgbClr val="07224C"/>
            </a:solidFill>
            <a:ln w="12700">
              <a:solidFill>
                <a:srgbClr val="2FCC7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81144" y="2372868"/>
              <a:ext cx="475488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>
                  <a:solidFill>
                    <a:srgbClr val="2FCC71"/>
                  </a:solidFill>
                  <a:latin typeface="Arial"/>
                </a:defRPr>
              </a:pPr>
              <a:r>
                <a:rPr dirty="0"/>
                <a:t>2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193792" y="1682113"/>
            <a:ext cx="25186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B"/>
                </a:solidFill>
                <a:latin typeface="Arial"/>
              </a:defRPr>
            </a:pPr>
            <a:r>
              <a:rPr dirty="0"/>
              <a:t>Safe Project </a:t>
            </a:r>
            <a:endParaRPr lang="es-ES" dirty="0"/>
          </a:p>
          <a:p>
            <a:pPr>
              <a:defRPr sz="1800" b="1">
                <a:solidFill>
                  <a:srgbClr val="F5F7FB"/>
                </a:solidFill>
                <a:latin typeface="Arial"/>
              </a:defRPr>
            </a:pPr>
            <a:r>
              <a:rPr dirty="0"/>
              <a:t>Improvement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6404" y="2356057"/>
            <a:ext cx="28346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C7D5"/>
                </a:solidFill>
                <a:latin typeface="Arial"/>
              </a:defRPr>
            </a:pPr>
            <a:r>
              <a:rPr dirty="0"/>
              <a:t>Improve existing repositories so AI agents can work on them more safely.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50555" y="1498092"/>
            <a:ext cx="3383280" cy="4433061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8337516-69F2-7848-1417-BE174AE8F3FD}"/>
              </a:ext>
            </a:extLst>
          </p:cNvPr>
          <p:cNvGrpSpPr/>
          <p:nvPr/>
        </p:nvGrpSpPr>
        <p:grpSpPr>
          <a:xfrm>
            <a:off x="8487003" y="1744980"/>
            <a:ext cx="475488" cy="475488"/>
            <a:chOff x="8403336" y="2313432"/>
            <a:chExt cx="475488" cy="475488"/>
          </a:xfrm>
        </p:grpSpPr>
        <p:sp>
          <p:nvSpPr>
            <p:cNvPr id="47" name="Rounded Rectangle 46"/>
            <p:cNvSpPr/>
            <p:nvPr/>
          </p:nvSpPr>
          <p:spPr>
            <a:xfrm>
              <a:off x="8403336" y="2313432"/>
              <a:ext cx="475488" cy="475488"/>
            </a:xfrm>
            <a:prstGeom prst="roundRect">
              <a:avLst/>
            </a:prstGeom>
            <a:solidFill>
              <a:srgbClr val="07224C"/>
            </a:solidFill>
            <a:ln w="12700">
              <a:solidFill>
                <a:srgbClr val="7E57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403336" y="2372868"/>
              <a:ext cx="475488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>
                  <a:solidFill>
                    <a:srgbClr val="7E57FF"/>
                  </a:solidFill>
                  <a:latin typeface="Arial"/>
                </a:defRPr>
              </a:pPr>
              <a:r>
                <a:rPr dirty="0"/>
                <a:t>3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9025128" y="17907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B"/>
                </a:solidFill>
                <a:latin typeface="Arial"/>
              </a:defRPr>
            </a:pPr>
            <a:r>
              <a:rPr dirty="0"/>
              <a:t>Agentic Loop PR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4747" y="2328444"/>
            <a:ext cx="300837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C7D5"/>
                </a:solidFill>
                <a:latin typeface="Arial"/>
              </a:defRPr>
            </a:pPr>
            <a:r>
              <a:rPr dirty="0"/>
              <a:t>Run controlled AI-assisted implementation from issue to pull request.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C5FDB47-D058-896A-9C70-DF85CCBB03F8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57" name="Text 1">
              <a:extLst>
                <a:ext uri="{FF2B5EF4-FFF2-40B4-BE49-F238E27FC236}">
                  <a16:creationId xmlns:a16="http://schemas.microsoft.com/office/drawing/2014/main" id="{21E4BEC9-1BCF-01AC-160F-484BF80145C1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58" name="Shape 2">
              <a:extLst>
                <a:ext uri="{FF2B5EF4-FFF2-40B4-BE49-F238E27FC236}">
                  <a16:creationId xmlns:a16="http://schemas.microsoft.com/office/drawing/2014/main" id="{0DA327E7-2811-779B-005C-19EDE9034C44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" name="Text 3">
              <a:extLst>
                <a:ext uri="{FF2B5EF4-FFF2-40B4-BE49-F238E27FC236}">
                  <a16:creationId xmlns:a16="http://schemas.microsoft.com/office/drawing/2014/main" id="{8D8AA2E5-8D40-64E7-7E64-D0B15E683B23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92238BE5-08CF-376B-40D8-518F552930C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518"/>
              </a:clrFrom>
              <a:clrTo>
                <a:srgbClr val="000518">
                  <a:alpha val="0"/>
                </a:srgbClr>
              </a:clrTo>
            </a:clrChange>
          </a:blip>
          <a:srcRect t="25307" b="18513"/>
          <a:stretch>
            <a:fillRect/>
          </a:stretch>
        </p:blipFill>
        <p:spPr>
          <a:xfrm>
            <a:off x="650073" y="3412106"/>
            <a:ext cx="3260044" cy="183146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1DC40DB-3B0D-3C78-74CA-FA29E07DE6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341" t="35705" r="41003" b="44572"/>
          <a:stretch>
            <a:fillRect/>
          </a:stretch>
        </p:blipFill>
        <p:spPr>
          <a:xfrm>
            <a:off x="5077434" y="3280155"/>
            <a:ext cx="2180299" cy="243551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6222572-3FD3-656B-8479-4F31AB907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464" y="3048554"/>
            <a:ext cx="2845672" cy="25228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02920" y="8686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dirty="0">
                <a:solidFill>
                  <a:srgbClr val="F5F7FB"/>
                </a:solidFill>
                <a:latin typeface="Arial"/>
              </a:rPr>
              <a:t>AI Project </a:t>
            </a:r>
            <a:r>
              <a:rPr sz="4200" b="1" dirty="0">
                <a:solidFill>
                  <a:srgbClr val="186FFF"/>
                </a:solidFill>
                <a:latin typeface="Arial"/>
              </a:rPr>
              <a:t>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7190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7D5"/>
                </a:solidFill>
                <a:latin typeface="Arial"/>
              </a:defRPr>
            </a:pPr>
            <a:r>
              <a:t>Starter architectures for new AI software projects.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09D24D1-DDFA-9A6D-3456-D4CE0F1A4011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55" name="Text 1">
              <a:extLst>
                <a:ext uri="{FF2B5EF4-FFF2-40B4-BE49-F238E27FC236}">
                  <a16:creationId xmlns:a16="http://schemas.microsoft.com/office/drawing/2014/main" id="{AABF5200-CC2B-C4E5-EE18-FB0C0D488AAC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56" name="Shape 2">
              <a:extLst>
                <a:ext uri="{FF2B5EF4-FFF2-40B4-BE49-F238E27FC236}">
                  <a16:creationId xmlns:a16="http://schemas.microsoft.com/office/drawing/2014/main" id="{84044620-E7F5-C1C9-4185-4D0DDC4CA87E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" name="Text 3">
              <a:extLst>
                <a:ext uri="{FF2B5EF4-FFF2-40B4-BE49-F238E27FC236}">
                  <a16:creationId xmlns:a16="http://schemas.microsoft.com/office/drawing/2014/main" id="{256003B3-6746-8946-6D83-513EFD59A9BD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EC3CC57-B6E7-ACE7-9527-7FE6E9FC6E4A}"/>
              </a:ext>
            </a:extLst>
          </p:cNvPr>
          <p:cNvSpPr txBox="1"/>
          <p:nvPr/>
        </p:nvSpPr>
        <p:spPr>
          <a:xfrm>
            <a:off x="10119072" y="344293"/>
            <a:ext cx="386943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200" dirty="0">
                <a:solidFill>
                  <a:schemeClr val="bg1"/>
                </a:solidFill>
              </a:rPr>
              <a:t>📁templates/</a:t>
            </a:r>
            <a:endParaRPr lang="es-ES" sz="1200" dirty="0">
              <a:solidFill>
                <a:schemeClr val="bg1"/>
              </a:solidFill>
            </a:endParaRPr>
          </a:p>
          <a:p>
            <a:r>
              <a:rPr lang="en-DE" sz="1200" dirty="0">
                <a:solidFill>
                  <a:schemeClr val="bg1"/>
                </a:solidFill>
              </a:rPr>
              <a:t>📁simple-</a:t>
            </a:r>
            <a:r>
              <a:rPr lang="en-DE" sz="1200" dirty="0" err="1">
                <a:solidFill>
                  <a:schemeClr val="bg1"/>
                </a:solidFill>
              </a:rPr>
              <a:t>llm</a:t>
            </a:r>
            <a:r>
              <a:rPr lang="en-DE" sz="1200" dirty="0">
                <a:solidFill>
                  <a:schemeClr val="bg1"/>
                </a:solidFill>
              </a:rPr>
              <a:t>-call-template/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README.md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PROJECT_SPEC.md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AGENTS.md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.</a:t>
            </a:r>
            <a:r>
              <a:rPr lang="en-DE" sz="1200" dirty="0" err="1">
                <a:solidFill>
                  <a:schemeClr val="bg1"/>
                </a:solidFill>
              </a:rPr>
              <a:t>env.example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</a:t>
            </a:r>
            <a:r>
              <a:rPr lang="en-DE" sz="1200" dirty="0" err="1">
                <a:solidFill>
                  <a:schemeClr val="bg1"/>
                </a:solidFill>
              </a:rPr>
              <a:t>Makefile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verify.sh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</a:t>
            </a:r>
            <a:r>
              <a:rPr lang="en-DE" sz="1200" dirty="0" err="1">
                <a:solidFill>
                  <a:schemeClr val="bg1"/>
                </a:solidFill>
              </a:rPr>
              <a:t>pyproject.toml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📁.</a:t>
            </a:r>
            <a:r>
              <a:rPr lang="en-DE" sz="1200" dirty="0" err="1">
                <a:solidFill>
                  <a:schemeClr val="bg1"/>
                </a:solidFill>
              </a:rPr>
              <a:t>github</a:t>
            </a:r>
            <a:r>
              <a:rPr lang="en-DE" sz="1200" dirty="0">
                <a:solidFill>
                  <a:schemeClr val="bg1"/>
                </a:solidFill>
              </a:rPr>
              <a:t>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└── 📁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workflows/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└── </a:t>
            </a:r>
            <a:r>
              <a:rPr lang="en-DE" sz="1200" dirty="0" err="1">
                <a:solidFill>
                  <a:schemeClr val="bg1"/>
                </a:solidFill>
              </a:rPr>
              <a:t>verify.yml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📁docs/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architecture.md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runbook.md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limitations.md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 └── evaluation.md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n-DE" sz="1200" dirty="0">
                <a:solidFill>
                  <a:schemeClr val="bg1"/>
                </a:solidFill>
              </a:rPr>
              <a:t>├── 📁</a:t>
            </a:r>
            <a:r>
              <a:rPr lang="en-DE" sz="1200" dirty="0" err="1">
                <a:solidFill>
                  <a:schemeClr val="bg1"/>
                </a:solidFill>
              </a:rPr>
              <a:t>src</a:t>
            </a:r>
            <a:r>
              <a:rPr lang="en-DE" sz="1200" dirty="0">
                <a:solidFill>
                  <a:schemeClr val="bg1"/>
                </a:solidFill>
              </a:rPr>
              <a:t>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└──📁 </a:t>
            </a:r>
            <a:r>
              <a:rPr lang="en-DE" sz="1200" dirty="0" err="1">
                <a:solidFill>
                  <a:schemeClr val="bg1"/>
                </a:solidFill>
              </a:rPr>
              <a:t>simple_llm_call</a:t>
            </a:r>
            <a:r>
              <a:rPr lang="en-DE" sz="1200" dirty="0">
                <a:solidFill>
                  <a:schemeClr val="bg1"/>
                </a:solidFill>
              </a:rPr>
              <a:t>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config.py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schemas.py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llm_client.py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workflow.py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storage.py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├── 📁prompts/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└── generation.md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└── web/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│ 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└── app.py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└── 📁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tests/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├── 📁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fakes/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├── 📁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fixtures/</a:t>
            </a:r>
            <a:br>
              <a:rPr lang="en-DE" sz="1200" dirty="0">
                <a:solidFill>
                  <a:schemeClr val="bg1"/>
                </a:solidFill>
              </a:rPr>
            </a:br>
            <a:r>
              <a:rPr lang="es-ES" sz="1200" dirty="0">
                <a:solidFill>
                  <a:schemeClr val="bg1"/>
                </a:solidFill>
              </a:rPr>
              <a:t>  </a:t>
            </a:r>
            <a:r>
              <a:rPr lang="en-DE" sz="1200" dirty="0">
                <a:solidFill>
                  <a:schemeClr val="bg1"/>
                </a:solidFill>
              </a:rPr>
              <a:t>└── test_*.py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C5EA12-B6AB-2670-DCE4-9BC098089D0C}"/>
              </a:ext>
            </a:extLst>
          </p:cNvPr>
          <p:cNvSpPr txBox="1"/>
          <p:nvPr/>
        </p:nvSpPr>
        <p:spPr>
          <a:xfrm>
            <a:off x="585216" y="4701013"/>
            <a:ext cx="904134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b="1" i="0" dirty="0" err="1">
                <a:solidFill>
                  <a:schemeClr val="bg1"/>
                </a:solidFill>
                <a:effectLst/>
                <a:latin typeface="Monaspace Neon"/>
              </a:rPr>
              <a:t>Shared</a:t>
            </a:r>
            <a:r>
              <a:rPr lang="es-ES" b="1" i="0" dirty="0">
                <a:solidFill>
                  <a:schemeClr val="bg1"/>
                </a:solidFill>
                <a:effectLst/>
                <a:latin typeface="Monaspace Neon"/>
              </a:rPr>
              <a:t> </a:t>
            </a:r>
            <a:r>
              <a:rPr lang="es-ES" b="1" i="0" dirty="0" err="1">
                <a:solidFill>
                  <a:schemeClr val="bg1"/>
                </a:solidFill>
                <a:effectLst/>
                <a:latin typeface="Monaspace Neon"/>
              </a:rPr>
              <a:t>backbone</a:t>
            </a:r>
            <a:r>
              <a:rPr lang="es-ES" b="1" i="0" dirty="0">
                <a:solidFill>
                  <a:schemeClr val="bg1"/>
                </a:solidFill>
                <a:effectLst/>
                <a:latin typeface="Monaspace Neon"/>
              </a:rPr>
              <a:t>:</a:t>
            </a:r>
          </a:p>
          <a:p>
            <a:pPr algn="l">
              <a:buNone/>
            </a:pPr>
            <a:r>
              <a:rPr lang="en-DE" b="0" i="0" dirty="0">
                <a:solidFill>
                  <a:schemeClr val="bg1"/>
                </a:solidFill>
                <a:effectLst/>
                <a:latin typeface="Monaspace Neon"/>
              </a:rPr>
              <a:t>config -&gt; schemas -&gt; prompts -&gt; </a:t>
            </a:r>
            <a:r>
              <a:rPr lang="en-DE" b="0" i="0" dirty="0" err="1">
                <a:solidFill>
                  <a:schemeClr val="bg1"/>
                </a:solidFill>
                <a:effectLst/>
                <a:latin typeface="Monaspace Neon"/>
              </a:rPr>
              <a:t>llm_client</a:t>
            </a:r>
            <a:r>
              <a:rPr lang="en-DE" b="0" i="0" dirty="0">
                <a:solidFill>
                  <a:schemeClr val="bg1"/>
                </a:solidFill>
                <a:effectLst/>
                <a:latin typeface="Monaspace Neon"/>
              </a:rPr>
              <a:t> -&gt; workflow/agent/graph -&gt; storage -&gt; web -&gt; tests</a:t>
            </a:r>
          </a:p>
        </p:txBody>
      </p:sp>
      <p:sp>
        <p:nvSpPr>
          <p:cNvPr id="85" name="Rounded Rectangle 34">
            <a:extLst>
              <a:ext uri="{FF2B5EF4-FFF2-40B4-BE49-F238E27FC236}">
                <a16:creationId xmlns:a16="http://schemas.microsoft.com/office/drawing/2014/main" id="{6B931971-0B5D-A0A8-348E-44F47F7024F5}"/>
              </a:ext>
            </a:extLst>
          </p:cNvPr>
          <p:cNvSpPr/>
          <p:nvPr/>
        </p:nvSpPr>
        <p:spPr>
          <a:xfrm>
            <a:off x="594360" y="2310567"/>
            <a:ext cx="3182112" cy="62179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Simple LLM </a:t>
            </a:r>
            <a:r>
              <a:rPr lang="es-ES" dirty="0" err="1"/>
              <a:t>integration</a:t>
            </a:r>
            <a:endParaRPr dirty="0"/>
          </a:p>
        </p:txBody>
      </p:sp>
      <p:sp>
        <p:nvSpPr>
          <p:cNvPr id="87" name="Rounded Rectangle 34">
            <a:extLst>
              <a:ext uri="{FF2B5EF4-FFF2-40B4-BE49-F238E27FC236}">
                <a16:creationId xmlns:a16="http://schemas.microsoft.com/office/drawing/2014/main" id="{E24609C4-CD2C-C028-BF07-1BDBD7E536E1}"/>
              </a:ext>
            </a:extLst>
          </p:cNvPr>
          <p:cNvSpPr/>
          <p:nvPr/>
        </p:nvSpPr>
        <p:spPr>
          <a:xfrm>
            <a:off x="594360" y="3052409"/>
            <a:ext cx="3182112" cy="62179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RAG</a:t>
            </a:r>
            <a:endParaRPr dirty="0"/>
          </a:p>
        </p:txBody>
      </p:sp>
      <p:sp>
        <p:nvSpPr>
          <p:cNvPr id="89" name="Rounded Rectangle 34">
            <a:extLst>
              <a:ext uri="{FF2B5EF4-FFF2-40B4-BE49-F238E27FC236}">
                <a16:creationId xmlns:a16="http://schemas.microsoft.com/office/drawing/2014/main" id="{A1CD2EDA-6B60-2168-706F-E0A770BA9A27}"/>
              </a:ext>
            </a:extLst>
          </p:cNvPr>
          <p:cNvSpPr/>
          <p:nvPr/>
        </p:nvSpPr>
        <p:spPr>
          <a:xfrm>
            <a:off x="603504" y="3798317"/>
            <a:ext cx="3182112" cy="62179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MCP</a:t>
            </a:r>
            <a:endParaRPr dirty="0"/>
          </a:p>
        </p:txBody>
      </p:sp>
      <p:sp>
        <p:nvSpPr>
          <p:cNvPr id="91" name="Rounded Rectangle 34">
            <a:extLst>
              <a:ext uri="{FF2B5EF4-FFF2-40B4-BE49-F238E27FC236}">
                <a16:creationId xmlns:a16="http://schemas.microsoft.com/office/drawing/2014/main" id="{5EE7031E-7BCB-59ED-FC81-FF0336545177}"/>
              </a:ext>
            </a:extLst>
          </p:cNvPr>
          <p:cNvSpPr/>
          <p:nvPr/>
        </p:nvSpPr>
        <p:spPr>
          <a:xfrm>
            <a:off x="4370832" y="2310567"/>
            <a:ext cx="3182112" cy="62179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Agentic</a:t>
            </a:r>
            <a:r>
              <a:rPr lang="es-ES" dirty="0"/>
              <a:t>: </a:t>
            </a:r>
            <a:r>
              <a:rPr lang="es-ES" dirty="0" err="1"/>
              <a:t>LangChain</a:t>
            </a:r>
            <a:endParaRPr dirty="0"/>
          </a:p>
        </p:txBody>
      </p:sp>
      <p:sp>
        <p:nvSpPr>
          <p:cNvPr id="93" name="Rounded Rectangle 34">
            <a:extLst>
              <a:ext uri="{FF2B5EF4-FFF2-40B4-BE49-F238E27FC236}">
                <a16:creationId xmlns:a16="http://schemas.microsoft.com/office/drawing/2014/main" id="{5799CAFA-1C64-5F73-DB34-A3489F273AD4}"/>
              </a:ext>
            </a:extLst>
          </p:cNvPr>
          <p:cNvSpPr/>
          <p:nvPr/>
        </p:nvSpPr>
        <p:spPr>
          <a:xfrm>
            <a:off x="4370832" y="3065109"/>
            <a:ext cx="3182112" cy="62179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Agentic</a:t>
            </a:r>
            <a:r>
              <a:rPr lang="es-ES" dirty="0"/>
              <a:t>: </a:t>
            </a:r>
            <a:r>
              <a:rPr lang="es-ES" dirty="0" err="1"/>
              <a:t>LangGraph</a:t>
            </a:r>
            <a:endParaRPr lang="es-ES" dirty="0"/>
          </a:p>
        </p:txBody>
      </p:sp>
      <p:sp>
        <p:nvSpPr>
          <p:cNvPr id="95" name="Rounded Rectangle 34">
            <a:extLst>
              <a:ext uri="{FF2B5EF4-FFF2-40B4-BE49-F238E27FC236}">
                <a16:creationId xmlns:a16="http://schemas.microsoft.com/office/drawing/2014/main" id="{C3716929-DA6F-0AA5-8227-961FD554A129}"/>
              </a:ext>
            </a:extLst>
          </p:cNvPr>
          <p:cNvSpPr/>
          <p:nvPr/>
        </p:nvSpPr>
        <p:spPr>
          <a:xfrm>
            <a:off x="4379976" y="3811017"/>
            <a:ext cx="3182112" cy="62179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Agentic</a:t>
            </a:r>
            <a:r>
              <a:rPr lang="es-ES" dirty="0"/>
              <a:t>: Agent &amp; Human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loop</a:t>
            </a:r>
            <a:endParaRPr dirty="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7D76246-A119-7353-7F18-D5BF833AB9B2}"/>
              </a:ext>
            </a:extLst>
          </p:cNvPr>
          <p:cNvGrpSpPr/>
          <p:nvPr/>
        </p:nvGrpSpPr>
        <p:grpSpPr>
          <a:xfrm>
            <a:off x="312381" y="6131652"/>
            <a:ext cx="7508328" cy="428567"/>
            <a:chOff x="560938" y="5615548"/>
            <a:chExt cx="7508328" cy="428567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ECAC631-DFB5-5A97-EE60-AE962A597BDB}"/>
                </a:ext>
              </a:extLst>
            </p:cNvPr>
            <p:cNvSpPr txBox="1"/>
            <p:nvPr/>
          </p:nvSpPr>
          <p:spPr>
            <a:xfrm>
              <a:off x="1014416" y="5660269"/>
              <a:ext cx="7054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dirty="0">
                  <a:solidFill>
                    <a:schemeClr val="bg1"/>
                  </a:solidFill>
                </a:rPr>
                <a:t>https://github.com/portero-aylagas/AI_project_templates</a:t>
              </a:r>
            </a:p>
          </p:txBody>
        </p:sp>
        <p:pic>
          <p:nvPicPr>
            <p:cNvPr id="121" name="Picture 120" descr="Github Sign free icons designed by Dave Gandy">
              <a:extLst>
                <a:ext uri="{FF2B5EF4-FFF2-40B4-BE49-F238E27FC236}">
                  <a16:creationId xmlns:a16="http://schemas.microsoft.com/office/drawing/2014/main" id="{710AC6A6-F02C-E422-7DD8-ABF523FA2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855" t="15417" r="14534" b="1762"/>
            <a:stretch>
              <a:fillRect/>
            </a:stretch>
          </p:blipFill>
          <p:spPr>
            <a:xfrm>
              <a:off x="560938" y="5615548"/>
              <a:ext cx="380908" cy="4285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02920" y="868680"/>
            <a:ext cx="107807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86FFF"/>
                </a:solidFill>
                <a:latin typeface="Arial"/>
              </a:rPr>
              <a:t>Safe </a:t>
            </a:r>
            <a:r>
              <a:rPr sz="3400" b="1" dirty="0">
                <a:solidFill>
                  <a:srgbClr val="F5F7FB"/>
                </a:solidFill>
                <a:latin typeface="Arial"/>
              </a:rPr>
              <a:t>Project</a:t>
            </a:r>
            <a:r>
              <a:rPr lang="es-ES" sz="3400" b="1" dirty="0">
                <a:solidFill>
                  <a:srgbClr val="F5F7FB"/>
                </a:solidFill>
                <a:latin typeface="Arial"/>
              </a:rPr>
              <a:t> </a:t>
            </a:r>
            <a:r>
              <a:rPr sz="3400" b="1" dirty="0">
                <a:solidFill>
                  <a:srgbClr val="F5F7FB"/>
                </a:solidFill>
                <a:latin typeface="Arial"/>
              </a:rPr>
              <a:t>Improvement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1624506"/>
            <a:ext cx="804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EC7D5"/>
                </a:solidFill>
                <a:latin typeface="Arial"/>
              </a:defRPr>
            </a:pPr>
            <a:r>
              <a:rPr lang="es-ES" dirty="0"/>
              <a:t>Skill </a:t>
            </a:r>
            <a:r>
              <a:rPr lang="es-ES" dirty="0" err="1"/>
              <a:t>for</a:t>
            </a:r>
            <a:r>
              <a:rPr lang="es-ES" dirty="0"/>
              <a:t> m</a:t>
            </a:r>
            <a:r>
              <a:rPr dirty="0" err="1"/>
              <a:t>aking</a:t>
            </a:r>
            <a:r>
              <a:rPr dirty="0"/>
              <a:t> existing repositories</a:t>
            </a:r>
            <a:r>
              <a:rPr lang="es-ES" dirty="0"/>
              <a:t> </a:t>
            </a:r>
            <a:r>
              <a:rPr dirty="0"/>
              <a:t>safer for AI-assisted development.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5FF47BD-0618-1625-F264-8C53CB835C5E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59" name="Text 1">
              <a:extLst>
                <a:ext uri="{FF2B5EF4-FFF2-40B4-BE49-F238E27FC236}">
                  <a16:creationId xmlns:a16="http://schemas.microsoft.com/office/drawing/2014/main" id="{9E7616DD-3383-8754-C712-3D13A2FF8DCB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5C1F64F4-AA6F-6A61-9C45-CA635B55BCE4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" name="Text 3">
              <a:extLst>
                <a:ext uri="{FF2B5EF4-FFF2-40B4-BE49-F238E27FC236}">
                  <a16:creationId xmlns:a16="http://schemas.microsoft.com/office/drawing/2014/main" id="{51FACEA7-7FD8-C745-018A-FF94F5751A3C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8A8F3ED-957D-2209-0F61-6B102188BAFB}"/>
              </a:ext>
            </a:extLst>
          </p:cNvPr>
          <p:cNvGrpSpPr/>
          <p:nvPr/>
        </p:nvGrpSpPr>
        <p:grpSpPr>
          <a:xfrm>
            <a:off x="502920" y="6109393"/>
            <a:ext cx="9642566" cy="428567"/>
            <a:chOff x="560938" y="5615548"/>
            <a:chExt cx="9642566" cy="42856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BB7506-3BEA-6AC2-F8A6-561C4715544F}"/>
                </a:ext>
              </a:extLst>
            </p:cNvPr>
            <p:cNvSpPr txBox="1"/>
            <p:nvPr/>
          </p:nvSpPr>
          <p:spPr>
            <a:xfrm>
              <a:off x="1014416" y="5660269"/>
              <a:ext cx="91890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https://github.com/portero-aylagas/agent_skill_safe_project_improvement_system</a:t>
              </a:r>
              <a:endParaRPr lang="en-DE" dirty="0">
                <a:solidFill>
                  <a:schemeClr val="bg1"/>
                </a:solidFill>
              </a:endParaRPr>
            </a:p>
          </p:txBody>
        </p:sp>
        <p:pic>
          <p:nvPicPr>
            <p:cNvPr id="64" name="Picture 63" descr="Github Sign free icons designed by Dave Gandy">
              <a:extLst>
                <a:ext uri="{FF2B5EF4-FFF2-40B4-BE49-F238E27FC236}">
                  <a16:creationId xmlns:a16="http://schemas.microsoft.com/office/drawing/2014/main" id="{8F33C8A4-128F-11E1-E7AF-E4B9F1F60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855" t="15417" r="14534" b="1762"/>
            <a:stretch>
              <a:fillRect/>
            </a:stretch>
          </p:blipFill>
          <p:spPr>
            <a:xfrm>
              <a:off x="560938" y="5615548"/>
              <a:ext cx="380908" cy="428567"/>
            </a:xfrm>
            <a:prstGeom prst="rect">
              <a:avLst/>
            </a:prstGeom>
          </p:spPr>
        </p:pic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0B5126B3-F279-FD1F-D183-76A61CF54489}"/>
              </a:ext>
            </a:extLst>
          </p:cNvPr>
          <p:cNvSpPr txBox="1"/>
          <p:nvPr/>
        </p:nvSpPr>
        <p:spPr>
          <a:xfrm>
            <a:off x="558364" y="2201921"/>
            <a:ext cx="8048607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b="1" i="0" dirty="0" err="1">
                <a:solidFill>
                  <a:schemeClr val="bg1"/>
                </a:solidFill>
                <a:effectLst/>
                <a:latin typeface="Monaspace Neon"/>
              </a:rPr>
              <a:t>Improvement</a:t>
            </a:r>
            <a:r>
              <a:rPr lang="es-ES" b="1" i="0" dirty="0">
                <a:solidFill>
                  <a:schemeClr val="bg1"/>
                </a:solidFill>
                <a:effectLst/>
                <a:latin typeface="Monaspace Neon"/>
              </a:rPr>
              <a:t> </a:t>
            </a:r>
            <a:r>
              <a:rPr lang="es-ES" b="1" i="0" dirty="0" err="1">
                <a:solidFill>
                  <a:schemeClr val="bg1"/>
                </a:solidFill>
                <a:effectLst/>
                <a:latin typeface="Monaspace Neon"/>
              </a:rPr>
              <a:t>system</a:t>
            </a:r>
            <a:r>
              <a:rPr lang="es-ES" b="1" i="0" dirty="0">
                <a:solidFill>
                  <a:schemeClr val="bg1"/>
                </a:solidFill>
                <a:effectLst/>
                <a:latin typeface="Monaspace Neon"/>
              </a:rPr>
              <a:t>:</a:t>
            </a:r>
          </a:p>
          <a:p>
            <a:r>
              <a:rPr lang="en-DE" dirty="0">
                <a:solidFill>
                  <a:schemeClr val="bg1"/>
                </a:solidFill>
              </a:rPr>
              <a:t>inspect -&gt; characterize -&gt; verify setup -&gt; audit -&gt; backlog -&gt; one patch -&gt; verify</a:t>
            </a:r>
          </a:p>
        </p:txBody>
      </p: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4A4C9482-619A-B2D5-3856-7F6088F17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496599"/>
              </p:ext>
            </p:extLst>
          </p:nvPr>
        </p:nvGraphicFramePr>
        <p:xfrm>
          <a:off x="502920" y="3356415"/>
          <a:ext cx="9701784" cy="2374594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4850892">
                  <a:extLst>
                    <a:ext uri="{9D8B030D-6E8A-4147-A177-3AD203B41FA5}">
                      <a16:colId xmlns:a16="http://schemas.microsoft.com/office/drawing/2014/main" val="4220556856"/>
                    </a:ext>
                  </a:extLst>
                </a:gridCol>
                <a:gridCol w="4850892">
                  <a:extLst>
                    <a:ext uri="{9D8B030D-6E8A-4147-A177-3AD203B41FA5}">
                      <a16:colId xmlns:a16="http://schemas.microsoft.com/office/drawing/2014/main" val="3291599895"/>
                    </a:ext>
                  </a:extLst>
                </a:gridCol>
              </a:tblGrid>
              <a:tr h="2780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en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b="1" dirty="0">
                          <a:solidFill>
                            <a:schemeClr val="bg1"/>
                          </a:solidFill>
                        </a:rPr>
                        <a:t>Use when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7491"/>
                  </a:ext>
                </a:extLst>
              </a:tr>
              <a:tr h="59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solidFill>
                            <a:schemeClr val="bg1"/>
                          </a:solidFill>
                        </a:rPr>
                        <a:t>Review Mode</a:t>
                      </a:r>
                      <a:endParaRPr lang="en-DE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solidFill>
                            <a:schemeClr val="bg1"/>
                          </a:solidFill>
                        </a:rPr>
                        <a:t>You want an audit, assessment, plan, or prioritized backlog.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591716"/>
                  </a:ext>
                </a:extLst>
              </a:tr>
              <a:tr h="728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>
                          <a:solidFill>
                            <a:schemeClr val="bg1"/>
                          </a:solidFill>
                        </a:rPr>
                        <a:t>Local Safe Refactor Mode</a:t>
                      </a:r>
                      <a:endParaRPr lang="en-DE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solidFill>
                            <a:schemeClr val="bg1"/>
                          </a:solidFill>
                        </a:rPr>
                        <a:t>You want one local improvement made safely.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0064293"/>
                  </a:ext>
                </a:extLst>
              </a:tr>
              <a:tr h="59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>
                          <a:solidFill>
                            <a:schemeClr val="bg1"/>
                          </a:solidFill>
                        </a:rPr>
                        <a:t>Full Automation Mode</a:t>
                      </a:r>
                      <a:endParaRPr lang="en-DE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solidFill>
                            <a:schemeClr val="bg1"/>
                          </a:solidFill>
                        </a:rPr>
                        <a:t>You explicitly approve branch, commit, push, pull request, and CI follow-up 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9850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6384-DC62-C1C7-5BE9-6E3DF664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0A1EE576-EA2F-BE65-0B01-39C9292DEEA5}"/>
              </a:ext>
            </a:extLst>
          </p:cNvPr>
          <p:cNvSpPr txBox="1"/>
          <p:nvPr/>
        </p:nvSpPr>
        <p:spPr>
          <a:xfrm>
            <a:off x="502920" y="868680"/>
            <a:ext cx="116890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86FFF"/>
                </a:solidFill>
                <a:latin typeface="Arial"/>
              </a:rPr>
              <a:t>Safe </a:t>
            </a:r>
            <a:r>
              <a:rPr sz="3400" b="1" dirty="0">
                <a:solidFill>
                  <a:srgbClr val="F5F7FB"/>
                </a:solidFill>
                <a:latin typeface="Arial"/>
              </a:rPr>
              <a:t>Project Improvement </a:t>
            </a:r>
            <a:endParaRPr lang="es-ES" sz="3400" b="1" dirty="0">
              <a:solidFill>
                <a:srgbClr val="F5F7FB"/>
              </a:solidFill>
              <a:latin typeface="Arial"/>
            </a:endParaRPr>
          </a:p>
          <a:p>
            <a:r>
              <a:rPr sz="3400" b="1" dirty="0">
                <a:solidFill>
                  <a:srgbClr val="F5F7FB"/>
                </a:solidFill>
                <a:latin typeface="Arial"/>
              </a:rPr>
              <a:t>System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744DD3F-2F3D-1119-0490-84B9481595AC}"/>
              </a:ext>
            </a:extLst>
          </p:cNvPr>
          <p:cNvSpPr/>
          <p:nvPr/>
        </p:nvSpPr>
        <p:spPr>
          <a:xfrm>
            <a:off x="6720840" y="320040"/>
            <a:ext cx="5229205" cy="6418960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DE" i="1" dirty="0"/>
              <a:t>Analyse the architecture and file structure of this project.</a:t>
            </a:r>
          </a:p>
          <a:p>
            <a:endParaRPr lang="es-ES" i="1" dirty="0"/>
          </a:p>
          <a:p>
            <a:r>
              <a:rPr lang="en-DE" i="1" dirty="0"/>
              <a:t>Check:</a:t>
            </a:r>
          </a:p>
          <a:p>
            <a:r>
              <a:rPr lang="es-ES" i="1" dirty="0"/>
              <a:t>- </a:t>
            </a:r>
            <a:r>
              <a:rPr lang="en-DE" i="1" dirty="0"/>
              <a:t>Whether each file has a clear purpose</a:t>
            </a:r>
          </a:p>
          <a:p>
            <a:r>
              <a:rPr lang="es-ES" i="1" dirty="0"/>
              <a:t>- </a:t>
            </a:r>
            <a:r>
              <a:rPr lang="en-DE" i="1" dirty="0"/>
              <a:t>Whether responsibilities are separated correctly</a:t>
            </a:r>
          </a:p>
          <a:p>
            <a:r>
              <a:rPr lang="es-ES" i="1" dirty="0"/>
              <a:t>- </a:t>
            </a:r>
            <a:r>
              <a:rPr lang="en-DE" i="1" dirty="0"/>
              <a:t>Whether main.py only orchestrates</a:t>
            </a:r>
          </a:p>
          <a:p>
            <a:r>
              <a:rPr lang="es-ES" i="1" dirty="0"/>
              <a:t>- </a:t>
            </a:r>
            <a:r>
              <a:rPr lang="en-DE" i="1" dirty="0"/>
              <a:t>Whether business logic is outside the UI layer</a:t>
            </a:r>
          </a:p>
          <a:p>
            <a:r>
              <a:rPr lang="es-ES" i="1" dirty="0"/>
              <a:t>- </a:t>
            </a:r>
            <a:r>
              <a:rPr lang="en-DE" i="1" dirty="0"/>
              <a:t>Whether imports suggest circular dependencies or bad </a:t>
            </a:r>
            <a:r>
              <a:rPr lang="es-ES" i="1" dirty="0"/>
              <a:t>-</a:t>
            </a:r>
            <a:r>
              <a:rPr lang="en-DE" i="1" dirty="0"/>
              <a:t>coupling</a:t>
            </a:r>
          </a:p>
          <a:p>
            <a:r>
              <a:rPr lang="es-ES" i="1" dirty="0"/>
              <a:t>- </a:t>
            </a:r>
            <a:r>
              <a:rPr lang="en-DE" i="1" dirty="0"/>
              <a:t>Whether the current structure will scale if the project grows</a:t>
            </a:r>
          </a:p>
          <a:p>
            <a:endParaRPr lang="es-ES" i="1" dirty="0"/>
          </a:p>
          <a:p>
            <a:r>
              <a:rPr lang="en-DE" i="1" dirty="0"/>
              <a:t>Return:</a:t>
            </a:r>
          </a:p>
          <a:p>
            <a:r>
              <a:rPr lang="es-ES" i="1" dirty="0"/>
              <a:t>- </a:t>
            </a:r>
            <a:r>
              <a:rPr lang="en-DE" i="1" dirty="0"/>
              <a:t>Current architecture summary</a:t>
            </a:r>
          </a:p>
          <a:p>
            <a:r>
              <a:rPr lang="es-ES" i="1" dirty="0"/>
              <a:t>- </a:t>
            </a:r>
            <a:r>
              <a:rPr lang="en-DE" i="1" dirty="0"/>
              <a:t>Problems in the structure</a:t>
            </a:r>
          </a:p>
          <a:p>
            <a:r>
              <a:rPr lang="es-ES" i="1" dirty="0"/>
              <a:t>- </a:t>
            </a:r>
            <a:r>
              <a:rPr lang="en-DE" i="1" dirty="0"/>
              <a:t>Recommended file structure</a:t>
            </a:r>
          </a:p>
          <a:p>
            <a:r>
              <a:rPr lang="es-ES" i="1" dirty="0"/>
              <a:t>- </a:t>
            </a:r>
            <a:r>
              <a:rPr lang="en-DE" i="1" dirty="0"/>
              <a:t>What code should move where</a:t>
            </a:r>
          </a:p>
          <a:p>
            <a:r>
              <a:rPr lang="es-ES" i="1" dirty="0"/>
              <a:t>- </a:t>
            </a:r>
            <a:r>
              <a:rPr lang="en-DE" i="1" dirty="0"/>
              <a:t>Minimal changes needed now</a:t>
            </a:r>
          </a:p>
          <a:p>
            <a:r>
              <a:rPr lang="es-ES" i="1" dirty="0"/>
              <a:t>- </a:t>
            </a:r>
            <a:r>
              <a:rPr lang="en-DE" i="1" dirty="0"/>
              <a:t>Changes that would be overkill at this stage</a:t>
            </a:r>
            <a:endParaRPr lang="en-DE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E9AF96-9730-4710-61BF-E83A8E5E86F4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59" name="Text 1">
              <a:extLst>
                <a:ext uri="{FF2B5EF4-FFF2-40B4-BE49-F238E27FC236}">
                  <a16:creationId xmlns:a16="http://schemas.microsoft.com/office/drawing/2014/main" id="{070B48AB-1186-6418-CCB1-C7154AED7EC8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4654B7F9-F634-5CA6-45A8-66D479542400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" name="Text 3">
              <a:extLst>
                <a:ext uri="{FF2B5EF4-FFF2-40B4-BE49-F238E27FC236}">
                  <a16:creationId xmlns:a16="http://schemas.microsoft.com/office/drawing/2014/main" id="{06F15CE4-E4BF-DFB1-8C05-85BBD62F0EB7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4E862C-E2E5-4742-AA74-10897CC80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504621"/>
              </p:ext>
            </p:extLst>
          </p:nvPr>
        </p:nvGraphicFramePr>
        <p:xfrm>
          <a:off x="502920" y="2085140"/>
          <a:ext cx="5975966" cy="451682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987983">
                  <a:extLst>
                    <a:ext uri="{9D8B030D-6E8A-4147-A177-3AD203B41FA5}">
                      <a16:colId xmlns:a16="http://schemas.microsoft.com/office/drawing/2014/main" val="4191150349"/>
                    </a:ext>
                  </a:extLst>
                </a:gridCol>
                <a:gridCol w="2987983">
                  <a:extLst>
                    <a:ext uri="{9D8B030D-6E8A-4147-A177-3AD203B41FA5}">
                      <a16:colId xmlns:a16="http://schemas.microsoft.com/office/drawing/2014/main" val="3416803597"/>
                    </a:ext>
                  </a:extLst>
                </a:gridCol>
              </a:tblGrid>
              <a:tr h="2900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b="1" dirty="0"/>
                        <a:t>SW ENGINEERING AUDIT</a:t>
                      </a:r>
                      <a:endParaRPr lang="en-DE" sz="1500" b="1" dirty="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b="1" dirty="0"/>
                        <a:t>AI SYSTEM AUDIT</a:t>
                      </a:r>
                      <a:endParaRPr lang="en-DE" sz="1500" b="1" dirty="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166660782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General Software Architecture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dirty="0"/>
                        <a:t>AI Software Architecture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49871203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Function Responsibility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Prompt Quality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77674606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Error Handling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Dynamic Prompting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580341652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Testability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Structured Output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957798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Software Delivery Testing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LLM/API Integration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078305697"/>
                  </a:ext>
                </a:extLst>
              </a:tr>
              <a:tr h="506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Reproducibility And Dependency Discipline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RAG And Retrieval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73132307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dirty="0"/>
                        <a:t>CI Maturity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AI Evaluation And Testing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67340274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Data And JSON Validation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Agents And Tools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09241627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Artifact/File Collision Safety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Workflow Automation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491091005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User-Controlled File/Path Safety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Speech Pipelines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338050708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Repository Hygiene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Cost And Usage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211407130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Process And Reviewer Evidence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76124783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/>
                        <a:t>Security And Secrets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500" dirty="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66355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74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02920" y="868680"/>
            <a:ext cx="10607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F5F7FB"/>
                </a:solidFill>
                <a:latin typeface="Arial"/>
              </a:rPr>
              <a:t>Agentic </a:t>
            </a:r>
            <a:r>
              <a:rPr lang="es-ES" sz="3400" b="1" dirty="0">
                <a:solidFill>
                  <a:srgbClr val="186FFF"/>
                </a:solidFill>
                <a:latin typeface="Arial"/>
              </a:rPr>
              <a:t>Loop</a:t>
            </a:r>
            <a:endParaRPr sz="3400" b="1" dirty="0">
              <a:solidFill>
                <a:srgbClr val="F5F7FB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50698" y="2611248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15290" y="2775840"/>
            <a:ext cx="475488" cy="475488"/>
          </a:xfrm>
          <a:prstGeom prst="roundRect">
            <a:avLst/>
          </a:prstGeom>
          <a:solidFill>
            <a:srgbClr val="07224C"/>
          </a:solidFill>
          <a:ln w="12700">
            <a:solidFill>
              <a:srgbClr val="18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5290" y="2835276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6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938" y="2821560"/>
            <a:ext cx="594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B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477" y="303187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EC7D5"/>
                </a:solidFill>
                <a:latin typeface="Arial"/>
              </a:defRPr>
            </a:pPr>
            <a:r>
              <a:rPr dirty="0"/>
              <a:t>Intake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827276" y="3059304"/>
            <a:ext cx="320040" cy="164592"/>
          </a:xfrm>
          <a:prstGeom prst="rightArrow">
            <a:avLst/>
          </a:prstGeom>
          <a:solidFill>
            <a:srgbClr val="18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152650" y="2611248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317242" y="2775840"/>
            <a:ext cx="475488" cy="475488"/>
          </a:xfrm>
          <a:prstGeom prst="roundRect">
            <a:avLst/>
          </a:prstGeom>
          <a:solidFill>
            <a:srgbClr val="07224C"/>
          </a:solidFill>
          <a:ln w="12700">
            <a:solidFill>
              <a:srgbClr val="18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7242" y="2835276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6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9890" y="2821560"/>
            <a:ext cx="594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B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37282" y="304101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EC7D5"/>
                </a:solidFill>
                <a:latin typeface="Arial"/>
              </a:defRPr>
            </a:pPr>
            <a:r>
              <a:rPr dirty="0"/>
              <a:t>Scope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729228" y="3059304"/>
            <a:ext cx="320040" cy="164592"/>
          </a:xfrm>
          <a:prstGeom prst="rightArrow">
            <a:avLst/>
          </a:prstGeom>
          <a:solidFill>
            <a:srgbClr val="18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054601" y="2611248"/>
            <a:ext cx="1548385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219194" y="2775840"/>
            <a:ext cx="475488" cy="475488"/>
          </a:xfrm>
          <a:prstGeom prst="roundRect">
            <a:avLst/>
          </a:prstGeom>
          <a:solidFill>
            <a:srgbClr val="07224C"/>
          </a:solidFill>
          <a:ln w="12700">
            <a:solidFill>
              <a:srgbClr val="18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19194" y="2835276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6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4392" y="2821560"/>
            <a:ext cx="594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B"/>
                </a:solidFill>
                <a:latin typeface="Arial"/>
              </a:defRPr>
            </a:pPr>
            <a:r>
              <a:rPr dirty="0"/>
              <a:t>Implement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4154" y="30730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EC7D5"/>
                </a:solidFill>
                <a:latin typeface="Arial"/>
              </a:defRPr>
            </a:pPr>
            <a:r>
              <a:rPr dirty="0"/>
              <a:t>Code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631180" y="3059304"/>
            <a:ext cx="320040" cy="164592"/>
          </a:xfrm>
          <a:prstGeom prst="rightArrow">
            <a:avLst/>
          </a:prstGeom>
          <a:solidFill>
            <a:srgbClr val="18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956554" y="2611248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121146" y="2775840"/>
            <a:ext cx="475488" cy="475488"/>
          </a:xfrm>
          <a:prstGeom prst="roundRect">
            <a:avLst/>
          </a:prstGeom>
          <a:solidFill>
            <a:srgbClr val="07224C"/>
          </a:solidFill>
          <a:ln w="12700">
            <a:solidFill>
              <a:srgbClr val="2F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1146" y="2835276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CC7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2994" y="2821560"/>
            <a:ext cx="594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B"/>
                </a:solidFill>
                <a:latin typeface="Arial"/>
              </a:defRPr>
            </a:pPr>
            <a:r>
              <a:rPr dirty="0"/>
              <a:t>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4930" y="305473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EC7D5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523607" y="3059304"/>
            <a:ext cx="320040" cy="164592"/>
          </a:xfrm>
          <a:prstGeom prst="rightArrow">
            <a:avLst/>
          </a:prstGeom>
          <a:solidFill>
            <a:srgbClr val="18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858505" y="2611248"/>
            <a:ext cx="1764791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023097" y="2775840"/>
            <a:ext cx="475488" cy="475488"/>
          </a:xfrm>
          <a:prstGeom prst="roundRect">
            <a:avLst/>
          </a:prstGeom>
          <a:solidFill>
            <a:srgbClr val="07224C"/>
          </a:solidFill>
          <a:ln w="12700">
            <a:solidFill>
              <a:srgbClr val="2F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23097" y="2835276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CC71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9546" y="2821560"/>
            <a:ext cx="11247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F7FB"/>
                </a:solidFill>
                <a:latin typeface="Arial"/>
              </a:defRPr>
            </a:pPr>
            <a:r>
              <a:rPr dirty="0"/>
              <a:t>Remediate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7718" y="30781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EC7D5"/>
                </a:solidFill>
                <a:latin typeface="Arial"/>
              </a:defRPr>
            </a:pPr>
            <a:r>
              <a:rPr dirty="0"/>
              <a:t>Fix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669778" y="3003932"/>
            <a:ext cx="320040" cy="164592"/>
          </a:xfrm>
          <a:prstGeom prst="rightArrow">
            <a:avLst/>
          </a:prstGeom>
          <a:solidFill>
            <a:srgbClr val="18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046714" y="2606676"/>
            <a:ext cx="1865631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0220197" y="2745868"/>
            <a:ext cx="475488" cy="475488"/>
          </a:xfrm>
          <a:prstGeom prst="roundRect">
            <a:avLst/>
          </a:prstGeom>
          <a:solidFill>
            <a:srgbClr val="07224C"/>
          </a:solidFill>
          <a:ln w="12700">
            <a:solidFill>
              <a:srgbClr val="2F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20197" y="2805304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CC7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2845" y="2791588"/>
            <a:ext cx="594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B"/>
                </a:solidFill>
                <a:latin typeface="Arial"/>
              </a:defRPr>
            </a:pPr>
            <a:r>
              <a:rPr dirty="0"/>
              <a:t>Handoff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95354" y="30501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EC7D5"/>
                </a:solidFill>
                <a:latin typeface="Arial"/>
              </a:defRPr>
            </a:pPr>
            <a:r>
              <a:rPr dirty="0"/>
              <a:t>Human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DFE5FF2-E511-721D-D6D4-F110479CD9CA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85" name="Text 1">
              <a:extLst>
                <a:ext uri="{FF2B5EF4-FFF2-40B4-BE49-F238E27FC236}">
                  <a16:creationId xmlns:a16="http://schemas.microsoft.com/office/drawing/2014/main" id="{CD84519B-D1BA-9225-14E3-664D6EFC5986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86" name="Shape 2">
              <a:extLst>
                <a:ext uri="{FF2B5EF4-FFF2-40B4-BE49-F238E27FC236}">
                  <a16:creationId xmlns:a16="http://schemas.microsoft.com/office/drawing/2014/main" id="{8D205F4A-34C9-21DE-75C1-6C61BD5088A1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87" name="Text 3">
              <a:extLst>
                <a:ext uri="{FF2B5EF4-FFF2-40B4-BE49-F238E27FC236}">
                  <a16:creationId xmlns:a16="http://schemas.microsoft.com/office/drawing/2014/main" id="{306EB42C-6A59-E862-B560-DFE127AA6A96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sp>
        <p:nvSpPr>
          <p:cNvPr id="91" name="Rounded Rectangle 28">
            <a:extLst>
              <a:ext uri="{FF2B5EF4-FFF2-40B4-BE49-F238E27FC236}">
                <a16:creationId xmlns:a16="http://schemas.microsoft.com/office/drawing/2014/main" id="{1A6FC134-06D1-14F8-F0D0-326F543B9B04}"/>
              </a:ext>
            </a:extLst>
          </p:cNvPr>
          <p:cNvSpPr/>
          <p:nvPr/>
        </p:nvSpPr>
        <p:spPr>
          <a:xfrm>
            <a:off x="1349501" y="4608014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bg1"/>
                </a:solidFill>
                <a:latin typeface="Mona Sans VF"/>
              </a:rPr>
              <a:t>🧠 Orchestrator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3" name="Rounded Rectangle 28">
            <a:extLst>
              <a:ext uri="{FF2B5EF4-FFF2-40B4-BE49-F238E27FC236}">
                <a16:creationId xmlns:a16="http://schemas.microsoft.com/office/drawing/2014/main" id="{CC9F1881-73E8-FAB2-1ACD-397155FD6BEB}"/>
              </a:ext>
            </a:extLst>
          </p:cNvPr>
          <p:cNvSpPr/>
          <p:nvPr/>
        </p:nvSpPr>
        <p:spPr>
          <a:xfrm>
            <a:off x="3338828" y="4616539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bg1"/>
                </a:solidFill>
                <a:latin typeface="Mona Sans VF"/>
              </a:rPr>
              <a:t>🧑‍💼📝 Planner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5" name="Rounded Rectangle 28">
            <a:extLst>
              <a:ext uri="{FF2B5EF4-FFF2-40B4-BE49-F238E27FC236}">
                <a16:creationId xmlns:a16="http://schemas.microsoft.com/office/drawing/2014/main" id="{2F1445B1-3EFE-1424-4A46-3DEED35727C4}"/>
              </a:ext>
            </a:extLst>
          </p:cNvPr>
          <p:cNvSpPr/>
          <p:nvPr/>
        </p:nvSpPr>
        <p:spPr>
          <a:xfrm>
            <a:off x="5232652" y="4656057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s-ES" dirty="0">
                <a:solidFill>
                  <a:schemeClr val="bg1"/>
                </a:solidFill>
                <a:latin typeface="Mona Sans VF"/>
              </a:rPr>
              <a:t> </a:t>
            </a:r>
            <a:r>
              <a:rPr lang="en-DE" dirty="0">
                <a:solidFill>
                  <a:schemeClr val="bg1"/>
                </a:solidFill>
                <a:latin typeface="Mona Sans VF"/>
              </a:rPr>
              <a:t>🧑‍💻🛠️ Implementer</a:t>
            </a:r>
            <a:endParaRPr lang="es-ES" dirty="0">
              <a:solidFill>
                <a:schemeClr val="bg1"/>
              </a:solidFill>
              <a:latin typeface="Mona Sans VF"/>
            </a:endParaRPr>
          </a:p>
        </p:txBody>
      </p:sp>
      <p:sp>
        <p:nvSpPr>
          <p:cNvPr id="97" name="Rounded Rectangle 28">
            <a:extLst>
              <a:ext uri="{FF2B5EF4-FFF2-40B4-BE49-F238E27FC236}">
                <a16:creationId xmlns:a16="http://schemas.microsoft.com/office/drawing/2014/main" id="{21217C47-CE06-6D16-BA24-53D45D463E19}"/>
              </a:ext>
            </a:extLst>
          </p:cNvPr>
          <p:cNvSpPr/>
          <p:nvPr/>
        </p:nvSpPr>
        <p:spPr>
          <a:xfrm>
            <a:off x="7302499" y="4653059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DE" dirty="0">
                <a:solidFill>
                  <a:schemeClr val="bg1"/>
                </a:solidFill>
                <a:latin typeface="Mona Sans VF"/>
              </a:rPr>
              <a:t>🕵️🔎 Reviewer</a:t>
            </a:r>
            <a:endParaRPr lang="es-ES" dirty="0">
              <a:solidFill>
                <a:schemeClr val="bg1"/>
              </a:solidFill>
              <a:latin typeface="Mona Sans VF"/>
            </a:endParaRPr>
          </a:p>
        </p:txBody>
      </p:sp>
      <p:sp>
        <p:nvSpPr>
          <p:cNvPr id="99" name="Rounded Rectangle 28">
            <a:extLst>
              <a:ext uri="{FF2B5EF4-FFF2-40B4-BE49-F238E27FC236}">
                <a16:creationId xmlns:a16="http://schemas.microsoft.com/office/drawing/2014/main" id="{A303C3B2-8782-9F4F-732F-619693CE7CCB}"/>
              </a:ext>
            </a:extLst>
          </p:cNvPr>
          <p:cNvSpPr/>
          <p:nvPr/>
        </p:nvSpPr>
        <p:spPr>
          <a:xfrm>
            <a:off x="9292335" y="4656057"/>
            <a:ext cx="1508760" cy="987552"/>
          </a:xfrm>
          <a:prstGeom prst="roundRect">
            <a:avLst/>
          </a:prstGeom>
          <a:solidFill>
            <a:srgbClr val="08172D"/>
          </a:solidFill>
          <a:ln w="10160">
            <a:solidFill>
              <a:srgbClr val="2A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DE" dirty="0">
                <a:solidFill>
                  <a:schemeClr val="bg1"/>
                </a:solidFill>
                <a:latin typeface="Mona Sans VF"/>
              </a:rPr>
              <a:t>🧑‍⚕️💊 Remediator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29B4717-7D6A-BE57-1C73-F859B7129CB2}"/>
              </a:ext>
            </a:extLst>
          </p:cNvPr>
          <p:cNvSpPr txBox="1"/>
          <p:nvPr/>
        </p:nvSpPr>
        <p:spPr>
          <a:xfrm>
            <a:off x="272290" y="2034390"/>
            <a:ext cx="6578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EC7D5"/>
                </a:solidFill>
                <a:latin typeface="Arial"/>
              </a:defRPr>
            </a:pPr>
            <a:r>
              <a:rPr lang="en-US" sz="2800" dirty="0"/>
              <a:t>Programmatic flow: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60339DA-2497-FAD7-CBCC-581C25A26EC4}"/>
              </a:ext>
            </a:extLst>
          </p:cNvPr>
          <p:cNvSpPr txBox="1"/>
          <p:nvPr/>
        </p:nvSpPr>
        <p:spPr>
          <a:xfrm>
            <a:off x="733551" y="4001982"/>
            <a:ext cx="6578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EC7D5"/>
                </a:solidFill>
                <a:latin typeface="Arial"/>
              </a:defRPr>
            </a:pPr>
            <a:r>
              <a:rPr lang="en-US" sz="2800" dirty="0"/>
              <a:t>Agents: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E965619-9658-DE38-C7CB-0E6E1523B44A}"/>
              </a:ext>
            </a:extLst>
          </p:cNvPr>
          <p:cNvGrpSpPr/>
          <p:nvPr/>
        </p:nvGrpSpPr>
        <p:grpSpPr>
          <a:xfrm>
            <a:off x="312381" y="6131652"/>
            <a:ext cx="7508328" cy="428567"/>
            <a:chOff x="560938" y="5615548"/>
            <a:chExt cx="7508328" cy="428567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9D87D2D-2070-10E0-662A-626553A11544}"/>
                </a:ext>
              </a:extLst>
            </p:cNvPr>
            <p:cNvSpPr txBox="1"/>
            <p:nvPr/>
          </p:nvSpPr>
          <p:spPr>
            <a:xfrm>
              <a:off x="1014416" y="5660269"/>
              <a:ext cx="7054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dirty="0">
                  <a:solidFill>
                    <a:schemeClr val="bg1"/>
                  </a:solidFill>
                </a:rPr>
                <a:t>https://github.com/portero-aylagas/</a:t>
              </a:r>
              <a:r>
                <a:rPr lang="es-ES" dirty="0" err="1">
                  <a:solidFill>
                    <a:schemeClr val="bg1"/>
                  </a:solidFill>
                </a:rPr>
                <a:t>agentic</a:t>
              </a:r>
              <a:r>
                <a:rPr lang="es-ES" dirty="0">
                  <a:solidFill>
                    <a:schemeClr val="bg1"/>
                  </a:solidFill>
                </a:rPr>
                <a:t>-</a:t>
              </a:r>
              <a:r>
                <a:rPr lang="es-ES" dirty="0" err="1">
                  <a:solidFill>
                    <a:schemeClr val="bg1"/>
                  </a:solidFill>
                </a:rPr>
                <a:t>loop</a:t>
              </a:r>
              <a:r>
                <a:rPr lang="es-ES" dirty="0">
                  <a:solidFill>
                    <a:schemeClr val="bg1"/>
                  </a:solidFill>
                </a:rPr>
                <a:t>-PR</a:t>
              </a:r>
              <a:endParaRPr lang="en-DE" dirty="0">
                <a:solidFill>
                  <a:schemeClr val="bg1"/>
                </a:solidFill>
              </a:endParaRPr>
            </a:p>
          </p:txBody>
        </p:sp>
        <p:pic>
          <p:nvPicPr>
            <p:cNvPr id="110" name="Picture 109" descr="Github Sign free icons designed by Dave Gandy">
              <a:extLst>
                <a:ext uri="{FF2B5EF4-FFF2-40B4-BE49-F238E27FC236}">
                  <a16:creationId xmlns:a16="http://schemas.microsoft.com/office/drawing/2014/main" id="{18261220-9103-33EA-A4D1-B2936626D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855" t="15417" r="14534" b="1762"/>
            <a:stretch>
              <a:fillRect/>
            </a:stretch>
          </p:blipFill>
          <p:spPr>
            <a:xfrm>
              <a:off x="560938" y="5615548"/>
              <a:ext cx="380908" cy="428567"/>
            </a:xfrm>
            <a:prstGeom prst="rect">
              <a:avLst/>
            </a:prstGeom>
          </p:spPr>
        </p:pic>
      </p:grpSp>
      <p:sp>
        <p:nvSpPr>
          <p:cNvPr id="111" name="Arrow: Curved Down 110">
            <a:extLst>
              <a:ext uri="{FF2B5EF4-FFF2-40B4-BE49-F238E27FC236}">
                <a16:creationId xmlns:a16="http://schemas.microsoft.com/office/drawing/2014/main" id="{F924125A-C4BB-66CF-494B-EDC61B8EDA26}"/>
              </a:ext>
            </a:extLst>
          </p:cNvPr>
          <p:cNvSpPr/>
          <p:nvPr/>
        </p:nvSpPr>
        <p:spPr>
          <a:xfrm flipH="1">
            <a:off x="4594862" y="1226064"/>
            <a:ext cx="4573018" cy="140528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1764C01-0CFC-1E08-63C4-F4C463219718}"/>
              </a:ext>
            </a:extLst>
          </p:cNvPr>
          <p:cNvSpPr txBox="1"/>
          <p:nvPr/>
        </p:nvSpPr>
        <p:spPr>
          <a:xfrm>
            <a:off x="5979666" y="595714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i="1" dirty="0">
                <a:solidFill>
                  <a:schemeClr val="bg1"/>
                </a:solidFill>
              </a:rPr>
              <a:t>Configurable </a:t>
            </a:r>
            <a:r>
              <a:rPr lang="en-DE" sz="1400" i="1" dirty="0">
                <a:solidFill>
                  <a:schemeClr val="bg1"/>
                </a:solidFill>
              </a:rPr>
              <a:t>policy:</a:t>
            </a:r>
            <a:br>
              <a:rPr lang="en-DE" sz="1400" i="1" dirty="0">
                <a:solidFill>
                  <a:schemeClr val="bg1"/>
                </a:solidFill>
              </a:rPr>
            </a:br>
            <a:r>
              <a:rPr lang="en-DE" sz="1400" i="1" dirty="0" err="1">
                <a:solidFill>
                  <a:schemeClr val="bg1"/>
                </a:solidFill>
              </a:rPr>
              <a:t>max_review_cycles</a:t>
            </a:r>
            <a:r>
              <a:rPr lang="en-DE" sz="1400" i="1" dirty="0">
                <a:solidFill>
                  <a:schemeClr val="bg1"/>
                </a:solidFill>
              </a:rPr>
              <a:t>: 2</a:t>
            </a:r>
            <a:br>
              <a:rPr lang="en-DE" sz="1400" i="1" dirty="0">
                <a:solidFill>
                  <a:schemeClr val="bg1"/>
                </a:solidFill>
              </a:rPr>
            </a:br>
            <a:r>
              <a:rPr lang="en-DE" sz="1400" i="1" dirty="0" err="1">
                <a:solidFill>
                  <a:schemeClr val="bg1"/>
                </a:solidFill>
              </a:rPr>
              <a:t>max_findings_per_cycle</a:t>
            </a:r>
            <a:r>
              <a:rPr lang="en-DE" sz="1400" i="1" dirty="0">
                <a:solidFill>
                  <a:schemeClr val="bg1"/>
                </a:solidFill>
              </a:rPr>
              <a:t>: 25</a:t>
            </a:r>
            <a:br>
              <a:rPr lang="en-DE" sz="1400" i="1" dirty="0">
                <a:solidFill>
                  <a:schemeClr val="bg1"/>
                </a:solidFill>
              </a:rPr>
            </a:br>
            <a:r>
              <a:rPr lang="en-DE" sz="1400" i="1" dirty="0" err="1">
                <a:solidFill>
                  <a:schemeClr val="bg1"/>
                </a:solidFill>
              </a:rPr>
              <a:t>stagnant_cycles</a:t>
            </a:r>
            <a:r>
              <a:rPr lang="en-DE" sz="1400" i="1" dirty="0">
                <a:solidFill>
                  <a:schemeClr val="bg1"/>
                </a:solidFill>
              </a:rPr>
              <a:t>: 2</a:t>
            </a:r>
            <a:br>
              <a:rPr lang="en-DE" sz="1400" i="1" dirty="0">
                <a:solidFill>
                  <a:schemeClr val="bg1"/>
                </a:solidFill>
              </a:rPr>
            </a:br>
            <a:r>
              <a:rPr lang="en-DE" sz="1400" i="1" dirty="0" err="1">
                <a:solidFill>
                  <a:schemeClr val="bg1"/>
                </a:solidFill>
              </a:rPr>
              <a:t>max_changed_files</a:t>
            </a:r>
            <a:r>
              <a:rPr lang="en-DE" sz="1400" i="1" dirty="0">
                <a:solidFill>
                  <a:schemeClr val="bg1"/>
                </a:solidFill>
              </a:rPr>
              <a:t>: 20</a:t>
            </a:r>
            <a:br>
              <a:rPr lang="en-DE" sz="1400" i="1" dirty="0">
                <a:solidFill>
                  <a:schemeClr val="bg1"/>
                </a:solidFill>
              </a:rPr>
            </a:br>
            <a:r>
              <a:rPr lang="en-DE" sz="1400" i="1" dirty="0" err="1">
                <a:solidFill>
                  <a:schemeClr val="bg1"/>
                </a:solidFill>
              </a:rPr>
              <a:t>max_diff_lines</a:t>
            </a:r>
            <a:r>
              <a:rPr lang="en-DE" sz="1400" i="1" dirty="0">
                <a:solidFill>
                  <a:schemeClr val="bg1"/>
                </a:solidFill>
              </a:rPr>
              <a:t>: 1000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pen-Source-Software: Chancen, Risiken und Strategiebedarf">
            <a:extLst>
              <a:ext uri="{FF2B5EF4-FFF2-40B4-BE49-F238E27FC236}">
                <a16:creationId xmlns:a16="http://schemas.microsoft.com/office/drawing/2014/main" id="{82F20D4B-747E-611B-665B-CFC782EB9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876300"/>
            <a:ext cx="9505950" cy="541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26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pen Source – a prerequisite for Digital Sovereignty – 8ra">
            <a:extLst>
              <a:ext uri="{FF2B5EF4-FFF2-40B4-BE49-F238E27FC236}">
                <a16:creationId xmlns:a16="http://schemas.microsoft.com/office/drawing/2014/main" id="{B06AB3B8-1378-4D0C-A43E-90B8184B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34" y="1548765"/>
            <a:ext cx="10657332" cy="376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15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67C9-3E41-1743-9EF4-945E90FE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5CF6B0-9657-297F-2A65-428F4D60303D}"/>
              </a:ext>
            </a:extLst>
          </p:cNvPr>
          <p:cNvSpPr txBox="1"/>
          <p:nvPr/>
        </p:nvSpPr>
        <p:spPr>
          <a:xfrm>
            <a:off x="502920" y="868680"/>
            <a:ext cx="10607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186FFF"/>
                </a:solidFill>
                <a:latin typeface="Arial"/>
              </a:rPr>
              <a:t>Strategic </a:t>
            </a:r>
            <a:r>
              <a:rPr lang="en-US" sz="3400" b="1" dirty="0">
                <a:solidFill>
                  <a:srgbClr val="F5F7FB"/>
                </a:solidFill>
                <a:latin typeface="Arial"/>
              </a:rPr>
              <a:t>Plan &amp; </a:t>
            </a:r>
            <a:r>
              <a:rPr lang="en-US" sz="3400" b="1" dirty="0">
                <a:solidFill>
                  <a:srgbClr val="186FFF"/>
                </a:solidFill>
                <a:latin typeface="Arial"/>
              </a:rPr>
              <a:t>ROI </a:t>
            </a:r>
            <a:r>
              <a:rPr lang="en-US" sz="3400" b="1" dirty="0">
                <a:solidFill>
                  <a:srgbClr val="F5F7FB"/>
                </a:solidFill>
                <a:latin typeface="Arial"/>
              </a:rPr>
              <a:t>&amp; </a:t>
            </a:r>
            <a:r>
              <a:rPr lang="en-US" sz="3400" b="1" dirty="0">
                <a:solidFill>
                  <a:srgbClr val="186FFF"/>
                </a:solidFill>
                <a:latin typeface="Arial"/>
              </a:rPr>
              <a:t>Risk </a:t>
            </a:r>
            <a:r>
              <a:rPr lang="en-US" sz="3400" b="1" dirty="0">
                <a:solidFill>
                  <a:srgbClr val="F5F7FB"/>
                </a:solidFill>
                <a:latin typeface="Arial"/>
              </a:rPr>
              <a:t>Assessment 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CC4ED09-19A9-E976-E64E-9E124D40D398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85" name="Text 1">
              <a:extLst>
                <a:ext uri="{FF2B5EF4-FFF2-40B4-BE49-F238E27FC236}">
                  <a16:creationId xmlns:a16="http://schemas.microsoft.com/office/drawing/2014/main" id="{EF6BD64C-F5FC-AF03-18DD-EF668F04CE6E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86" name="Shape 2">
              <a:extLst>
                <a:ext uri="{FF2B5EF4-FFF2-40B4-BE49-F238E27FC236}">
                  <a16:creationId xmlns:a16="http://schemas.microsoft.com/office/drawing/2014/main" id="{A4CCBAA0-03A0-5A6A-BC36-6176D2E721A5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87" name="Text 3">
              <a:extLst>
                <a:ext uri="{FF2B5EF4-FFF2-40B4-BE49-F238E27FC236}">
                  <a16:creationId xmlns:a16="http://schemas.microsoft.com/office/drawing/2014/main" id="{AE98A7C4-F54F-C715-9DA4-2C02A2CC957D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E29BA9-240D-9448-9310-4ACFD1A4916C}"/>
              </a:ext>
            </a:extLst>
          </p:cNvPr>
          <p:cNvSpPr txBox="1"/>
          <p:nvPr/>
        </p:nvSpPr>
        <p:spPr>
          <a:xfrm>
            <a:off x="4411726" y="4294504"/>
            <a:ext cx="2711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</a:rPr>
              <a:t>Value</a:t>
            </a:r>
            <a:r>
              <a:rPr lang="es-ES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es-ES" dirty="0" err="1">
                <a:solidFill>
                  <a:schemeClr val="bg1"/>
                </a:solidFill>
              </a:rPr>
              <a:t>Productivity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increase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dirty="0">
                <a:solidFill>
                  <a:schemeClr val="bg1"/>
                </a:solidFill>
              </a:rPr>
              <a:t>Time and tokens </a:t>
            </a:r>
            <a:r>
              <a:rPr lang="es-ES" dirty="0" err="1">
                <a:solidFill>
                  <a:schemeClr val="bg1"/>
                </a:solidFill>
              </a:rPr>
              <a:t>saved</a:t>
            </a:r>
            <a:endParaRPr lang="en-DE" dirty="0">
              <a:solidFill>
                <a:schemeClr val="bg1"/>
              </a:solidFill>
            </a:endParaRPr>
          </a:p>
        </p:txBody>
      </p:sp>
      <p:pic>
        <p:nvPicPr>
          <p:cNvPr id="4" name="Picture 3" descr="How to calculate the Return On Investment (ROI) of paid traffic campaigns -  Reportei">
            <a:extLst>
              <a:ext uri="{FF2B5EF4-FFF2-40B4-BE49-F238E27FC236}">
                <a16:creationId xmlns:a16="http://schemas.microsoft.com/office/drawing/2014/main" id="{464AF8A1-D2EE-C36E-44D8-A9CCEE554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67" r="19528"/>
          <a:stretch>
            <a:fillRect/>
          </a:stretch>
        </p:blipFill>
        <p:spPr>
          <a:xfrm>
            <a:off x="4269232" y="2206609"/>
            <a:ext cx="2996184" cy="182718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0B3BF34-4339-3EB0-FE60-8B4702DF7CC0}"/>
              </a:ext>
            </a:extLst>
          </p:cNvPr>
          <p:cNvGrpSpPr/>
          <p:nvPr/>
        </p:nvGrpSpPr>
        <p:grpSpPr>
          <a:xfrm>
            <a:off x="8129016" y="2206609"/>
            <a:ext cx="3771900" cy="1827184"/>
            <a:chOff x="3632200" y="1718299"/>
            <a:chExt cx="3771900" cy="193574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A42FD04-11F0-0238-374D-E5A107956784}"/>
                </a:ext>
              </a:extLst>
            </p:cNvPr>
            <p:cNvSpPr/>
            <p:nvPr/>
          </p:nvSpPr>
          <p:spPr>
            <a:xfrm>
              <a:off x="3632200" y="1718299"/>
              <a:ext cx="3771900" cy="193574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pic>
          <p:nvPicPr>
            <p:cNvPr id="6" name="Picture 5" descr="What is a risk? It's not what you think it is RISK-ACADEMY Blog">
              <a:extLst>
                <a:ext uri="{FF2B5EF4-FFF2-40B4-BE49-F238E27FC236}">
                  <a16:creationId xmlns:a16="http://schemas.microsoft.com/office/drawing/2014/main" id="{977AE670-2F7B-2639-4B32-BF3F4C6B9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03571" y="1737346"/>
              <a:ext cx="3413057" cy="1818525"/>
            </a:xfrm>
            <a:prstGeom prst="rect">
              <a:avLst/>
            </a:prstGeom>
          </p:spPr>
        </p:pic>
      </p:grpSp>
      <p:pic>
        <p:nvPicPr>
          <p:cNvPr id="11" name="Picture 10" descr="What is strategic planning? – Beyond by Esade">
            <a:extLst>
              <a:ext uri="{FF2B5EF4-FFF2-40B4-BE49-F238E27FC236}">
                <a16:creationId xmlns:a16="http://schemas.microsoft.com/office/drawing/2014/main" id="{811682D6-CDBB-BD2F-323B-EA993BE89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168509"/>
            <a:ext cx="2996184" cy="18576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B019E1-AE20-AB20-95BC-5966B0E36493}"/>
              </a:ext>
            </a:extLst>
          </p:cNvPr>
          <p:cNvSpPr txBox="1"/>
          <p:nvPr/>
        </p:nvSpPr>
        <p:spPr>
          <a:xfrm>
            <a:off x="1350010" y="4246751"/>
            <a:ext cx="2711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Open </a:t>
            </a:r>
            <a:r>
              <a:rPr lang="es-ES" dirty="0" err="1">
                <a:solidFill>
                  <a:schemeClr val="bg1"/>
                </a:solidFill>
              </a:rPr>
              <a:t>source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              + </a:t>
            </a:r>
          </a:p>
          <a:p>
            <a:r>
              <a:rPr lang="es-ES" dirty="0" err="1">
                <a:solidFill>
                  <a:schemeClr val="bg1"/>
                </a:solidFill>
              </a:rPr>
              <a:t>Paid</a:t>
            </a:r>
            <a:r>
              <a:rPr lang="es-ES" dirty="0">
                <a:solidFill>
                  <a:schemeClr val="bg1"/>
                </a:solidFill>
              </a:rPr>
              <a:t> Support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02F6FD-4814-22BC-1026-01EFAF1C9B12}"/>
              </a:ext>
            </a:extLst>
          </p:cNvPr>
          <p:cNvSpPr txBox="1"/>
          <p:nvPr/>
        </p:nvSpPr>
        <p:spPr>
          <a:xfrm>
            <a:off x="8398764" y="4294504"/>
            <a:ext cx="2711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>
                <a:solidFill>
                  <a:schemeClr val="bg1"/>
                </a:solidFill>
              </a:rPr>
              <a:t>Poor </a:t>
            </a:r>
            <a:r>
              <a:rPr lang="es-ES" dirty="0" err="1">
                <a:solidFill>
                  <a:schemeClr val="bg1"/>
                </a:solidFill>
              </a:rPr>
              <a:t>adoption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dirty="0" err="1">
                <a:solidFill>
                  <a:schemeClr val="bg1"/>
                </a:solidFill>
              </a:rPr>
              <a:t>Overtrust</a:t>
            </a:r>
            <a:r>
              <a:rPr lang="es-ES" dirty="0">
                <a:solidFill>
                  <a:schemeClr val="bg1"/>
                </a:solidFill>
              </a:rPr>
              <a:t> in AI outputs</a:t>
            </a:r>
          </a:p>
          <a:p>
            <a:pPr marL="285750" indent="-285750">
              <a:buFontTx/>
              <a:buChar char="-"/>
            </a:pPr>
            <a:r>
              <a:rPr lang="es-ES" dirty="0" err="1">
                <a:solidFill>
                  <a:schemeClr val="bg1"/>
                </a:solidFill>
              </a:rPr>
              <a:t>Overengineering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605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02C9-2F48-7D10-2028-8446483F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A20F5E8-82BF-197E-4D29-F3793A063016}"/>
              </a:ext>
            </a:extLst>
          </p:cNvPr>
          <p:cNvSpPr txBox="1"/>
          <p:nvPr/>
        </p:nvSpPr>
        <p:spPr>
          <a:xfrm>
            <a:off x="502920" y="868680"/>
            <a:ext cx="10607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F5F7FB"/>
                </a:solidFill>
                <a:latin typeface="Arial"/>
              </a:rPr>
              <a:t>EU </a:t>
            </a:r>
            <a:r>
              <a:rPr lang="en-US" sz="3400" b="1" dirty="0">
                <a:solidFill>
                  <a:srgbClr val="186FFF"/>
                </a:solidFill>
                <a:latin typeface="Arial"/>
              </a:rPr>
              <a:t>AI data </a:t>
            </a:r>
            <a:r>
              <a:rPr lang="en-US" sz="3400" b="1" dirty="0">
                <a:solidFill>
                  <a:srgbClr val="F5F7FB"/>
                </a:solidFill>
                <a:latin typeface="Arial"/>
              </a:rPr>
              <a:t>act &amp; </a:t>
            </a:r>
            <a:r>
              <a:rPr lang="en-US" sz="3400" b="1" dirty="0">
                <a:solidFill>
                  <a:srgbClr val="186FFF"/>
                </a:solidFill>
                <a:latin typeface="Arial"/>
              </a:rPr>
              <a:t>GDPR</a:t>
            </a:r>
            <a:endParaRPr lang="en-US" sz="3400" b="1" dirty="0">
              <a:solidFill>
                <a:srgbClr val="F5F7FB"/>
              </a:solidFill>
              <a:latin typeface="Arial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5F17244-A008-8AC8-1C8F-2EAB6C50F8D1}"/>
              </a:ext>
            </a:extLst>
          </p:cNvPr>
          <p:cNvGrpSpPr/>
          <p:nvPr/>
        </p:nvGrpSpPr>
        <p:grpSpPr>
          <a:xfrm>
            <a:off x="420624" y="256032"/>
            <a:ext cx="2487168" cy="374904"/>
            <a:chOff x="420624" y="256032"/>
            <a:chExt cx="2487168" cy="374904"/>
          </a:xfrm>
        </p:grpSpPr>
        <p:sp>
          <p:nvSpPr>
            <p:cNvPr id="85" name="Text 1">
              <a:extLst>
                <a:ext uri="{FF2B5EF4-FFF2-40B4-BE49-F238E27FC236}">
                  <a16:creationId xmlns:a16="http://schemas.microsoft.com/office/drawing/2014/main" id="{E2E96E3B-A20E-43F0-2D02-AF52443D318F}"/>
                </a:ext>
              </a:extLst>
            </p:cNvPr>
            <p:cNvSpPr/>
            <p:nvPr/>
          </p:nvSpPr>
          <p:spPr>
            <a:xfrm>
              <a:off x="420624" y="25603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</a:t>
              </a:r>
              <a:endParaRPr lang="en-US" sz="2600" dirty="0"/>
            </a:p>
          </p:txBody>
        </p:sp>
        <p:sp>
          <p:nvSpPr>
            <p:cNvPr id="86" name="Shape 2">
              <a:extLst>
                <a:ext uri="{FF2B5EF4-FFF2-40B4-BE49-F238E27FC236}">
                  <a16:creationId xmlns:a16="http://schemas.microsoft.com/office/drawing/2014/main" id="{35666BE5-6096-10DF-4901-AE7763DB80F2}"/>
                </a:ext>
              </a:extLst>
            </p:cNvPr>
            <p:cNvSpPr/>
            <p:nvPr/>
          </p:nvSpPr>
          <p:spPr>
            <a:xfrm>
              <a:off x="466344" y="630936"/>
              <a:ext cx="237744" cy="0"/>
            </a:xfrm>
            <a:prstGeom prst="line">
              <a:avLst/>
            </a:prstGeom>
            <a:noFill/>
            <a:ln w="25400">
              <a:solidFill>
                <a:srgbClr val="1677FF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87" name="Text 3">
              <a:extLst>
                <a:ext uri="{FF2B5EF4-FFF2-40B4-BE49-F238E27FC236}">
                  <a16:creationId xmlns:a16="http://schemas.microsoft.com/office/drawing/2014/main" id="{815FF49A-BD02-AF11-E4E7-96E6A1B1757C}"/>
                </a:ext>
              </a:extLst>
            </p:cNvPr>
            <p:cNvSpPr/>
            <p:nvPr/>
          </p:nvSpPr>
          <p:spPr>
            <a:xfrm>
              <a:off x="896112" y="32004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8FAFC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AGENTRAIL</a:t>
              </a:r>
              <a:endParaRPr lang="en-US" sz="1500" dirty="0"/>
            </a:p>
          </p:txBody>
        </p:sp>
      </p:grpSp>
      <p:pic>
        <p:nvPicPr>
          <p:cNvPr id="2" name="Picture 1" descr="EU General Data Protection Regulation (GDPR) | Industrial Sourcing Insights  | Globallinker">
            <a:extLst>
              <a:ext uri="{FF2B5EF4-FFF2-40B4-BE49-F238E27FC236}">
                <a16:creationId xmlns:a16="http://schemas.microsoft.com/office/drawing/2014/main" id="{D5673A9B-CB5B-7E47-7959-FD5C4A3F4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538" y="1545038"/>
            <a:ext cx="4608569" cy="210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U AI Act: Was Startups jetzt wissen müssen">
            <a:extLst>
              <a:ext uri="{FF2B5EF4-FFF2-40B4-BE49-F238E27FC236}">
                <a16:creationId xmlns:a16="http://schemas.microsoft.com/office/drawing/2014/main" id="{0749F34D-47F5-01DD-13AA-BC79872AE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8" y="1584309"/>
            <a:ext cx="3047453" cy="203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71D562-6BE8-C8E8-865C-C4116D25C2C7}"/>
              </a:ext>
            </a:extLst>
          </p:cNvPr>
          <p:cNvSpPr txBox="1"/>
          <p:nvPr/>
        </p:nvSpPr>
        <p:spPr>
          <a:xfrm>
            <a:off x="502920" y="3938032"/>
            <a:ext cx="44627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Limited Risk / transparency-relevant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M</a:t>
            </a:r>
            <a:r>
              <a:rPr lang="en-DE" dirty="0" err="1">
                <a:solidFill>
                  <a:schemeClr val="bg1"/>
                </a:solidFill>
              </a:rPr>
              <a:t>ain</a:t>
            </a:r>
            <a:r>
              <a:rPr lang="en-DE" dirty="0">
                <a:solidFill>
                  <a:schemeClr val="bg1"/>
                </a:solidFill>
              </a:rPr>
              <a:t> controls</a:t>
            </a:r>
            <a:r>
              <a:rPr lang="es-ES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human review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audit trail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verification checks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clear usage boundaries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 err="1">
                <a:solidFill>
                  <a:schemeClr val="bg1"/>
                </a:solidFill>
              </a:rPr>
              <a:t>ransparency</a:t>
            </a:r>
            <a:r>
              <a:rPr lang="en-DE" dirty="0">
                <a:solidFill>
                  <a:schemeClr val="bg1"/>
                </a:solidFill>
              </a:rPr>
              <a:t> that AI may assist with code or PR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4418F4-794E-DE0F-5BC1-CAD9FC76FB28}"/>
              </a:ext>
            </a:extLst>
          </p:cNvPr>
          <p:cNvSpPr txBox="1"/>
          <p:nvPr/>
        </p:nvSpPr>
        <p:spPr>
          <a:xfrm>
            <a:off x="6688327" y="3808984"/>
            <a:ext cx="44627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O</a:t>
            </a:r>
            <a:r>
              <a:rPr lang="en-DE" dirty="0">
                <a:solidFill>
                  <a:schemeClr val="bg1"/>
                </a:solidFill>
              </a:rPr>
              <a:t>pen-source GitHub-based framework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M</a:t>
            </a:r>
            <a:r>
              <a:rPr lang="en-DE" dirty="0" err="1">
                <a:solidFill>
                  <a:schemeClr val="bg1"/>
                </a:solidFill>
              </a:rPr>
              <a:t>ain</a:t>
            </a:r>
            <a:r>
              <a:rPr lang="en-DE" dirty="0">
                <a:solidFill>
                  <a:schemeClr val="bg1"/>
                </a:solidFill>
              </a:rPr>
              <a:t> controls</a:t>
            </a:r>
            <a:r>
              <a:rPr lang="es-ES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data minimization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no secrets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redacted examples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limited retention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access control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private security reporting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reassessment by downstream users.</a:t>
            </a:r>
          </a:p>
        </p:txBody>
      </p:sp>
    </p:spTree>
    <p:extLst>
      <p:ext uri="{BB962C8B-B14F-4D97-AF65-F5344CB8AC3E}">
        <p14:creationId xmlns:p14="http://schemas.microsoft.com/office/powerpoint/2010/main" val="1160451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1389</Words>
  <Application>Microsoft Office PowerPoint</Application>
  <PresentationFormat>Widescreen</PresentationFormat>
  <Paragraphs>259</Paragraphs>
  <Slides>16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 Display</vt:lpstr>
      <vt:lpstr>Arial</vt:lpstr>
      <vt:lpstr>Mona Sans VF</vt:lpstr>
      <vt:lpstr>Monaspace Neon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AgentRail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AgentRail Company Presentation</dc:title>
  <dc:subject>AgentRail brand and company presentation</dc:subject>
  <dc:creator>OpenAI</dc:creator>
  <cp:lastModifiedBy>javier portero aylagas</cp:lastModifiedBy>
  <cp:revision>3</cp:revision>
  <dcterms:created xsi:type="dcterms:W3CDTF">2026-06-18T21:01:09Z</dcterms:created>
  <dcterms:modified xsi:type="dcterms:W3CDTF">2026-06-19T13:32:30Z</dcterms:modified>
</cp:coreProperties>
</file>